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390106" y="3472774"/>
            <a:ext cx="574085" cy="37312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V="1">
            <a:off x="5964191" y="2817430"/>
            <a:ext cx="1204057" cy="102846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5964191" y="3341599"/>
            <a:ext cx="851119" cy="50429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5098580" y="3774046"/>
            <a:ext cx="865612" cy="7184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5964191" y="2265803"/>
            <a:ext cx="688777" cy="158009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964191" y="2755106"/>
            <a:ext cx="1368797" cy="109078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5329945" y="3400043"/>
            <a:ext cx="634247" cy="44585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5336930" y="3845895"/>
            <a:ext cx="627261" cy="190405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5481547" y="3012810"/>
            <a:ext cx="482645" cy="83308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404351" y="343400"/>
            <a:ext cx="738512" cy="132979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04351" y="1673196"/>
            <a:ext cx="64332" cy="137330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404351" y="1535318"/>
            <a:ext cx="249716" cy="13787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579507" y="1673196"/>
            <a:ext cx="824844" cy="115411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390106" y="2817430"/>
            <a:ext cx="1778143" cy="65534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5390106" y="1612165"/>
            <a:ext cx="673033" cy="186060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390106" y="3341599"/>
            <a:ext cx="1425204" cy="13117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5098580" y="3472774"/>
            <a:ext cx="291526" cy="30127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5390106" y="1595114"/>
            <a:ext cx="29716" cy="187766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5390106" y="2265803"/>
            <a:ext cx="1262863" cy="120697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4277177" y="2400682"/>
            <a:ext cx="1112929" cy="107209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390106" y="1618750"/>
            <a:ext cx="334379" cy="185402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5329945" y="3400043"/>
            <a:ext cx="60161" cy="7273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5390106" y="3012810"/>
            <a:ext cx="91441" cy="45996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5384" y="6027297"/>
            <a:ext cx="1116787" cy="73207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955384" y="5300104"/>
            <a:ext cx="912531" cy="72719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5384" y="6027297"/>
            <a:ext cx="13137" cy="32490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55384" y="6027297"/>
            <a:ext cx="1946948" cy="3604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6063139" y="1612165"/>
            <a:ext cx="1105109" cy="120526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7168248" y="1083410"/>
            <a:ext cx="1003868" cy="173402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6815310" y="2817430"/>
            <a:ext cx="352938" cy="52416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7168248" y="1925902"/>
            <a:ext cx="1002721" cy="89152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6652969" y="2265803"/>
            <a:ext cx="515280" cy="55162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5724485" y="1618750"/>
            <a:ext cx="1443763" cy="119868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7168248" y="2755106"/>
            <a:ext cx="164739" cy="6232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68248" y="2817430"/>
            <a:ext cx="1113033" cy="161895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>
            <a:off x="5329945" y="2817430"/>
            <a:ext cx="1838304" cy="58261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>
            <a:off x="5481547" y="2817430"/>
            <a:ext cx="1686702" cy="19538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2072171" y="5357842"/>
            <a:ext cx="1387043" cy="140152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 flipV="1">
            <a:off x="1867915" y="5300104"/>
            <a:ext cx="1591299" cy="5773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2902333" y="5357842"/>
            <a:ext cx="556882" cy="70549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59214" y="5357842"/>
            <a:ext cx="1877716" cy="39211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95490" y="525198"/>
            <a:ext cx="176626" cy="55821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95490" y="525198"/>
            <a:ext cx="175479" cy="140070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063139" y="1612165"/>
            <a:ext cx="752171" cy="172943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5419821" y="1595114"/>
            <a:ext cx="643318" cy="1705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63139" y="1612165"/>
            <a:ext cx="589830" cy="65363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4277177" y="1612165"/>
            <a:ext cx="1785963" cy="78851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>
            <a:off x="5724485" y="1612165"/>
            <a:ext cx="338654" cy="658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63139" y="1612165"/>
            <a:ext cx="1269849" cy="114294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5477167" y="618508"/>
            <a:ext cx="585972" cy="99365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>
            <a:off x="5329945" y="1612165"/>
            <a:ext cx="733195" cy="178787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>
            <a:off x="5481547" y="1612165"/>
            <a:ext cx="581593" cy="140064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>
            <a:off x="8170969" y="1083410"/>
            <a:ext cx="1147" cy="84249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6652969" y="1083410"/>
            <a:ext cx="1519147" cy="118239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7332988" y="1083410"/>
            <a:ext cx="839128" cy="167169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5098580" y="3341599"/>
            <a:ext cx="1716730" cy="43244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815310" y="1925902"/>
            <a:ext cx="1355659" cy="141569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 flipV="1">
            <a:off x="6652969" y="2265803"/>
            <a:ext cx="162341" cy="107579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6815310" y="2755106"/>
            <a:ext cx="517678" cy="58649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15310" y="3341599"/>
            <a:ext cx="1465972" cy="109478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H="1">
            <a:off x="5329945" y="3341599"/>
            <a:ext cx="1485365" cy="5844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H="1" flipV="1">
            <a:off x="5481547" y="3012810"/>
            <a:ext cx="1333763" cy="32878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H="1">
            <a:off x="1654067" y="343400"/>
            <a:ext cx="488796" cy="119191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1468683" y="1535318"/>
            <a:ext cx="185384" cy="151118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H="1" flipV="1">
            <a:off x="579507" y="2827308"/>
            <a:ext cx="889176" cy="21919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11616420" y="1297134"/>
            <a:ext cx="6360" cy="93127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H="1" flipV="1">
            <a:off x="4277177" y="2400682"/>
            <a:ext cx="821403" cy="137336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5098580" y="3400043"/>
            <a:ext cx="231365" cy="37400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098580" y="3774046"/>
            <a:ext cx="238351" cy="197590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5098580" y="3012810"/>
            <a:ext cx="382967" cy="76123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H="1">
            <a:off x="6652969" y="1925902"/>
            <a:ext cx="1518000" cy="33990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H="1">
            <a:off x="7332988" y="1925902"/>
            <a:ext cx="837981" cy="82920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H="1" flipV="1">
            <a:off x="1867915" y="5300104"/>
            <a:ext cx="204256" cy="145926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H="1" flipV="1">
            <a:off x="968522" y="6352205"/>
            <a:ext cx="1103650" cy="40716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2072171" y="6063339"/>
            <a:ext cx="830161" cy="69603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419821" y="1595114"/>
            <a:ext cx="1233147" cy="67068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H="1">
            <a:off x="4277177" y="1595114"/>
            <a:ext cx="1142645" cy="80556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419821" y="1595114"/>
            <a:ext cx="304664" cy="2363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5419821" y="618508"/>
            <a:ext cx="57346" cy="97660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H="1">
            <a:off x="5329945" y="1595114"/>
            <a:ext cx="89877" cy="180492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19821" y="1595114"/>
            <a:ext cx="61725" cy="141769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 flipV="1">
            <a:off x="5724485" y="1618750"/>
            <a:ext cx="928484" cy="64705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652969" y="2265803"/>
            <a:ext cx="680019" cy="48930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5329945" y="2265803"/>
            <a:ext cx="1323024" cy="113423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5481547" y="2265803"/>
            <a:ext cx="1171422" cy="74700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968522" y="5300104"/>
            <a:ext cx="899394" cy="105210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867915" y="5300104"/>
            <a:ext cx="1034417" cy="76323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4277177" y="1618750"/>
            <a:ext cx="1447308" cy="78193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277177" y="2400682"/>
            <a:ext cx="1052768" cy="99936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277177" y="2400682"/>
            <a:ext cx="1204370" cy="61212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968522" y="6063339"/>
            <a:ext cx="1933811" cy="28886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724485" y="1618750"/>
            <a:ext cx="1608503" cy="113635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5477167" y="618508"/>
            <a:ext cx="247318" cy="100024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H="1">
            <a:off x="5329945" y="1618750"/>
            <a:ext cx="394540" cy="178129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H="1">
            <a:off x="5481547" y="1618750"/>
            <a:ext cx="242938" cy="139406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332988" y="2755106"/>
            <a:ext cx="948294" cy="168128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H="1">
            <a:off x="5481547" y="2755106"/>
            <a:ext cx="1851441" cy="25770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H="1" flipV="1">
            <a:off x="8281282" y="4436386"/>
            <a:ext cx="947981" cy="4068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H="1">
            <a:off x="579507" y="1535318"/>
            <a:ext cx="1074560" cy="129199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 flipV="1">
            <a:off x="5329945" y="3012810"/>
            <a:ext cx="151602" cy="38723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18471" y="380017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358631" y="162747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344386" y="342705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09664" y="5981577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122528" y="277171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413494" y="531212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949770" y="47947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6017419" y="156644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26396" y="103769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6769590" y="329587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097143" y="29768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1375411" y="660575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422963" y="3000781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1577061" y="125141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052860" y="372832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125249" y="188018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026451" y="671364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374101" y="154939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607249" y="222008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822195" y="525438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231457" y="235496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22802" y="630648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2856613" y="601761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678765" y="157303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287268" y="270938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183543" y="443135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608347" y="148959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431447" y="57278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33787" y="278158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235562" y="439066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11570700" y="218268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84225" y="335432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291210" y="570423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435827" y="296709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799832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799832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799832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799832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7799832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799832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7799832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799832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046720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046720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046720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8046720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046720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8046720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046720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046720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8046720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8046720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293608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8293608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293608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8293608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293608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8293608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8293608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293608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8293608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8293608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8293608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293608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8540496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540496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8540496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8540496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540496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8540496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540496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8540496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540496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8540496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8540496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8540496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8540496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8540496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8787384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8787384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8787384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8787384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8787384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8787384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8787384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8787384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8787384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8787384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787384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8787384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8787384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8787384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8787384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8787384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9034272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9034272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9034272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9034272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9034272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9034272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9034272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9034272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034272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9034272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9034272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9034272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034272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9034272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9034272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9034272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9281160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9281160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9281160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9281160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9281160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9281160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9281160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9281160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9281160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9281160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9281160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9281160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9281160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281160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9281160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281160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9528048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528048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9528048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9528048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9528048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9528048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9528048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9528048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9528048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9528048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528048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9528048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528048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9528048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9528048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9528048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9774936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9774936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9774936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9774936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9774936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9774936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9774936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9774936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9774936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9774936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9774936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9774936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9774936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9774936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9774936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9774936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10021824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10021824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10021824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10021824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10021824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0021824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10021824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10021824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10021824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10021824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10021824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0021824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10021824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10021824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10021824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10021824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10268712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10268712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10268712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10268712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10268712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10268712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10268712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10268712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10268712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0268712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10268712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10268712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10268712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10268712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10268712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10268712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10515600" y="149047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10515600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10515600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10515600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10515600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10515600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10515600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0515600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10515600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10515600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10515600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10515600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10515600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10515600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10515600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10515600" y="519379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10762488" y="173736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10762488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10762488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10762488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10762488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0762488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10762488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10762488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10762488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10762488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10762488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10762488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10762488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10762488" y="494690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11009376" y="198424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11009376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11009376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11009376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11009376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1009376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11009376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11009376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11009376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11009376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11009376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11009376" y="470001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11256264" y="223113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11256264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11256264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11256264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11256264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11256264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11256264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1256264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11256264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11256264" y="445312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11503152" y="247802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11503152" y="272491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11503152" y="297180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11503152" y="3218688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11503152" y="3465576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11503152" y="3712464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11503152" y="3959352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11503152" y="4206240"/>
            <a:ext cx="73152" cy="73152"/>
          </a:xfrm>
          <a:prstGeom prst="ellipse">
            <a:avLst/>
          </a:prstGeom>
          <a:solidFill>
            <a:srgbClr val="1D6FB8">
              <a:alpha val="90000"/>
            </a:srgbClr>
          </a:solidFill>
          <a:ln w="12700">
            <a:solidFill>
              <a:srgbClr val="1D6FB8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9052560" y="2743200"/>
            <a:ext cx="1188720" cy="822960"/>
          </a:xfrm>
          <a:prstGeom prst="line">
            <a:avLst/>
          </a:prstGeom>
          <a:noFill/>
          <a:ln w="28575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353" name="Shape 351"/>
          <p:cNvSpPr/>
          <p:nvPr/>
        </p:nvSpPr>
        <p:spPr>
          <a:xfrm flipH="1">
            <a:off x="9418320" y="3566160"/>
            <a:ext cx="822960" cy="640080"/>
          </a:xfrm>
          <a:prstGeom prst="line">
            <a:avLst/>
          </a:prstGeom>
          <a:noFill/>
          <a:ln w="28575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354" name="Shape 352"/>
          <p:cNvSpPr/>
          <p:nvPr/>
        </p:nvSpPr>
        <p:spPr>
          <a:xfrm flipH="1" flipV="1">
            <a:off x="8503920" y="3749040"/>
            <a:ext cx="914400" cy="457200"/>
          </a:xfrm>
          <a:prstGeom prst="line">
            <a:avLst/>
          </a:prstGeom>
          <a:noFill/>
          <a:ln w="28575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8951976" y="2642616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10140696" y="3465576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9317736" y="4105656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8403336" y="3648456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>
                <a:alpha val="0"/>
              </a:srgbClr>
            </a:solidFill>
            <a:prstDash val="solid"/>
          </a:ln>
        </p:spPr>
      </p:sp>
      <p:pic>
        <p:nvPicPr>
          <p:cNvPr id="35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22960"/>
            <a:ext cx="457200" cy="457200"/>
          </a:xfrm>
          <a:prstGeom prst="rect">
            <a:avLst/>
          </a:prstGeom>
        </p:spPr>
      </p:pic>
      <p:sp>
        <p:nvSpPr>
          <p:cNvPr id="360" name="Text 357"/>
          <p:cNvSpPr txBox="1"/>
          <p:nvPr/>
        </p:nvSpPr>
        <p:spPr>
          <a:xfrm>
            <a:off x="640080" y="128016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</a:t>
            </a:r>
            <a:endParaRPr lang="en-US" sz="7200" dirty="0"/>
          </a:p>
        </p:txBody>
      </p:sp>
      <p:sp>
        <p:nvSpPr>
          <p:cNvPr id="361" name="Text 358"/>
          <p:cNvSpPr txBox="1"/>
          <p:nvPr/>
        </p:nvSpPr>
        <p:spPr>
          <a:xfrm>
            <a:off x="640080" y="26060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6E8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Intelligent Travel Planning &amp; Information Platform</a:t>
            </a:r>
            <a:endParaRPr lang="en-US" sz="2200" dirty="0"/>
          </a:p>
        </p:txBody>
      </p:sp>
      <p:sp>
        <p:nvSpPr>
          <p:cNvPr id="362" name="Shape 359"/>
          <p:cNvSpPr/>
          <p:nvPr/>
        </p:nvSpPr>
        <p:spPr>
          <a:xfrm>
            <a:off x="640080" y="3520440"/>
            <a:ext cx="1554480" cy="411480"/>
          </a:xfrm>
          <a:prstGeom prst="roundRect">
            <a:avLst>
              <a:gd name="adj" fmla="val 26667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63" name="Text 360"/>
          <p:cNvSpPr txBox="1"/>
          <p:nvPr/>
        </p:nvSpPr>
        <p:spPr>
          <a:xfrm>
            <a:off x="640080" y="352044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DSA Project</a:t>
            </a:r>
            <a:endParaRPr lang="en-US" sz="1200" dirty="0"/>
          </a:p>
        </p:txBody>
      </p:sp>
      <p:sp>
        <p:nvSpPr>
          <p:cNvPr id="364" name="Shape 361"/>
          <p:cNvSpPr/>
          <p:nvPr/>
        </p:nvSpPr>
        <p:spPr>
          <a:xfrm>
            <a:off x="2377440" y="3520440"/>
            <a:ext cx="914400" cy="411480"/>
          </a:xfrm>
          <a:prstGeom prst="roundRect">
            <a:avLst>
              <a:gd name="adj" fmla="val 26667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65" name="Text 362"/>
          <p:cNvSpPr txBox="1"/>
          <p:nvPr/>
        </p:nvSpPr>
        <p:spPr>
          <a:xfrm>
            <a:off x="2377440" y="35204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</a:t>
            </a:r>
            <a:endParaRPr lang="en-US" sz="1200" dirty="0"/>
          </a:p>
        </p:txBody>
      </p:sp>
      <p:sp>
        <p:nvSpPr>
          <p:cNvPr id="366" name="Shape 363"/>
          <p:cNvSpPr/>
          <p:nvPr/>
        </p:nvSpPr>
        <p:spPr>
          <a:xfrm>
            <a:off x="3474720" y="3520440"/>
            <a:ext cx="1280160" cy="411480"/>
          </a:xfrm>
          <a:prstGeom prst="roundRect">
            <a:avLst>
              <a:gd name="adj" fmla="val 26667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67" name="Text 364"/>
          <p:cNvSpPr txBox="1"/>
          <p:nvPr/>
        </p:nvSpPr>
        <p:spPr>
          <a:xfrm>
            <a:off x="3474720" y="3520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Review-1</a:t>
            </a:r>
            <a:endParaRPr lang="en-US" sz="1200" dirty="0"/>
          </a:p>
        </p:txBody>
      </p:sp>
      <p:sp>
        <p:nvSpPr>
          <p:cNvPr id="368" name="Shape 365"/>
          <p:cNvSpPr/>
          <p:nvPr/>
        </p:nvSpPr>
        <p:spPr>
          <a:xfrm>
            <a:off x="4937760" y="3520440"/>
            <a:ext cx="1280160" cy="411480"/>
          </a:xfrm>
          <a:prstGeom prst="roundRect">
            <a:avLst>
              <a:gd name="adj" fmla="val 26667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69" name="Text 366"/>
          <p:cNvSpPr txBox="1"/>
          <p:nvPr/>
        </p:nvSpPr>
        <p:spPr>
          <a:xfrm>
            <a:off x="4937760" y="3520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CO1–CO3</a:t>
            </a:r>
            <a:endParaRPr lang="en-US" sz="1200" dirty="0"/>
          </a:p>
        </p:txBody>
      </p:sp>
      <p:sp>
        <p:nvSpPr>
          <p:cNvPr id="370" name="Shape 367"/>
          <p:cNvSpPr/>
          <p:nvPr/>
        </p:nvSpPr>
        <p:spPr>
          <a:xfrm>
            <a:off x="640080" y="4251960"/>
            <a:ext cx="6949440" cy="18288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71" name="Text 368"/>
          <p:cNvSpPr txBox="1"/>
          <p:nvPr/>
        </p:nvSpPr>
        <p:spPr>
          <a:xfrm>
            <a:off x="6400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MEMBERS</a:t>
            </a:r>
            <a:endParaRPr lang="en-US" sz="1100" dirty="0"/>
          </a:p>
        </p:txBody>
      </p:sp>
      <p:sp>
        <p:nvSpPr>
          <p:cNvPr id="372" name="Text 369"/>
          <p:cNvSpPr txBox="1"/>
          <p:nvPr/>
        </p:nvSpPr>
        <p:spPr>
          <a:xfrm>
            <a:off x="640080" y="470916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Y. Keerthika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N. Jyothirmayee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M. Mallika</a:t>
            </a:r>
            <a:endParaRPr lang="en-US" sz="1500" dirty="0"/>
          </a:p>
        </p:txBody>
      </p:sp>
      <p:sp>
        <p:nvSpPr>
          <p:cNvPr id="373" name="Text 370"/>
          <p:cNvSpPr txBox="1"/>
          <p:nvPr/>
        </p:nvSpPr>
        <p:spPr>
          <a:xfrm>
            <a:off x="420624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</a:t>
            </a:r>
            <a:endParaRPr lang="en-US" sz="1100" dirty="0"/>
          </a:p>
        </p:txBody>
      </p:sp>
      <p:sp>
        <p:nvSpPr>
          <p:cNvPr id="374" name="Text 371"/>
          <p:cNvSpPr txBox="1"/>
          <p:nvPr/>
        </p:nvSpPr>
        <p:spPr>
          <a:xfrm>
            <a:off x="42062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M. Syamala Mam</a:t>
            </a:r>
            <a:endParaRPr lang="en-US" sz="1500" dirty="0"/>
          </a:p>
        </p:txBody>
      </p:sp>
      <p:sp>
        <p:nvSpPr>
          <p:cNvPr id="375" name="Text 372"/>
          <p:cNvSpPr txBox="1"/>
          <p:nvPr/>
        </p:nvSpPr>
        <p:spPr>
          <a:xfrm>
            <a:off x="4206240" y="5349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 CODE</a:t>
            </a:r>
            <a:endParaRPr lang="en-US" sz="1100" dirty="0"/>
          </a:p>
        </p:txBody>
      </p:sp>
      <p:sp>
        <p:nvSpPr>
          <p:cNvPr id="376" name="Text 373"/>
          <p:cNvSpPr txBox="1"/>
          <p:nvPr/>
        </p:nvSpPr>
        <p:spPr>
          <a:xfrm>
            <a:off x="4206240" y="5669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25CS2103E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5394960" cy="315468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508760"/>
            <a:ext cx="48463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information is spread across many sources. Users misspell destination names, struggle to compare descriptions, arrange multi-stop routes and look for places that fit their preferences.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applies string matching, sequence alignment and dynamic programming to these tasks inside a web application.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325880"/>
            <a:ext cx="53035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399032"/>
            <a:ext cx="402336" cy="402336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490472"/>
            <a:ext cx="219456" cy="219456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040880" y="13258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Finding travel information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309360" y="1965960"/>
            <a:ext cx="53035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46520" y="2039112"/>
            <a:ext cx="402336" cy="402336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13055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040880" y="19659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Misspelled destination queries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309360" y="2606040"/>
            <a:ext cx="53035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46520" y="2679192"/>
            <a:ext cx="402336" cy="402336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77063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040880" y="26060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Comparing descriptions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6309360" y="3246120"/>
            <a:ext cx="53035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46520" y="3319272"/>
            <a:ext cx="402336" cy="402336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3410712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040880" y="3246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Arranging multi-stop routes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09360" y="3886200"/>
            <a:ext cx="530352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446520" y="3959352"/>
            <a:ext cx="402336" cy="402336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050792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40880" y="38862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Matching user preferences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48640" y="5029200"/>
            <a:ext cx="3200400" cy="822960"/>
          </a:xfrm>
          <a:prstGeom prst="roundRect">
            <a:avLst>
              <a:gd name="adj" fmla="val 1333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0" name="Text 23"/>
          <p:cNvSpPr txBox="1"/>
          <p:nvPr/>
        </p:nvSpPr>
        <p:spPr>
          <a:xfrm>
            <a:off x="54864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Data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3840480" y="5303520"/>
            <a:ext cx="54864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4480560" y="5029200"/>
            <a:ext cx="3200400" cy="822960"/>
          </a:xfrm>
          <a:prstGeom prst="roundRect">
            <a:avLst>
              <a:gd name="adj" fmla="val 13333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448056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Search, Comparison &amp; Planning Problems</a:t>
            </a:r>
            <a:endParaRPr lang="en-US" sz="1400" dirty="0"/>
          </a:p>
        </p:txBody>
      </p:sp>
      <p:sp>
        <p:nvSpPr>
          <p:cNvPr id="34" name="Shape 27"/>
          <p:cNvSpPr/>
          <p:nvPr/>
        </p:nvSpPr>
        <p:spPr>
          <a:xfrm>
            <a:off x="7772400" y="5303520"/>
            <a:ext cx="54864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8412480" y="5029200"/>
            <a:ext cx="3200400" cy="822960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841248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DSA-Based Solutions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TravelSync?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746504"/>
            <a:ext cx="347472" cy="3474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Discovery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and search destinations with live travel information.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137160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1600200"/>
            <a:ext cx="640080" cy="6400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1746504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Typo Suggestions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788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 destinations when a query is misspelled.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46720" y="137160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21040" y="1600200"/>
            <a:ext cx="640080" cy="64008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174650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3210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Description Comparison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2788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shared and similar text between descriptions.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38404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21538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22960" y="4846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Itinerary Optimization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257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 multi-stop routes with Bitmask DP.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4297680" y="38404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4572000" y="4069080"/>
            <a:ext cx="640080" cy="64008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21538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572000" y="4846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Planning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4572000" y="5257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non-overlapping activities with Interval DP.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8046720" y="38404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8321040" y="4069080"/>
            <a:ext cx="640080" cy="6400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4215384"/>
            <a:ext cx="347472" cy="34747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321040" y="4846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Personalized Recommendations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8321040" y="5257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 destinations by preference with SOS DP.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200400" y="1645920"/>
            <a:ext cx="640080" cy="64008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6704" y="179222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22960" y="2377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modular web application (React + Spring Boot)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5661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7200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949440" y="1645920"/>
            <a:ext cx="640080" cy="6400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744" y="1792224"/>
            <a:ext cx="347472" cy="34747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72000" y="2377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string-search and matching algorithms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46720" y="1463040"/>
            <a:ext cx="35661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3210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10698480" y="1645920"/>
            <a:ext cx="640080" cy="64008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4784" y="1792224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321040" y="23774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travel descriptions using text algorithms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548640" y="3886200"/>
            <a:ext cx="35661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22960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3200400" y="4069080"/>
            <a:ext cx="640080" cy="6400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4215384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2296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Optimize travel plans with dynamic programming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297680" y="3886200"/>
            <a:ext cx="35661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4572000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6949440" y="4069080"/>
            <a:ext cx="640080" cy="64008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5744" y="4215384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57200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external travel-information and routing services</a:t>
            </a:r>
            <a:endParaRPr lang="en-US" sz="1400" dirty="0"/>
          </a:p>
        </p:txBody>
      </p:sp>
      <p:sp>
        <p:nvSpPr>
          <p:cNvPr id="32" name="Shape 25"/>
          <p:cNvSpPr/>
          <p:nvPr/>
        </p:nvSpPr>
        <p:spPr>
          <a:xfrm>
            <a:off x="8046720" y="3886200"/>
            <a:ext cx="356616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8321040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10698480" y="4069080"/>
            <a:ext cx="640080" cy="64008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4784" y="4215384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32104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the algorithm implementations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Vite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&amp; API client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52928" y="2880360"/>
            <a:ext cx="41148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9184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291840" y="22860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· Java 21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96128" y="2880360"/>
            <a:ext cx="41148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0" y="2286000"/>
            <a:ext cx="2194560" cy="1463040"/>
          </a:xfrm>
          <a:prstGeom prst="roundRect">
            <a:avLst>
              <a:gd name="adj" fmla="val 75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035040" y="22860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Controllers &amp; Services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handling &amp; logic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flipV="1">
            <a:off x="8229600" y="2240280"/>
            <a:ext cx="548640" cy="77724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29600" y="3017520"/>
            <a:ext cx="548640" cy="114300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778240" y="1371600"/>
            <a:ext cx="2834640" cy="1737360"/>
          </a:xfrm>
          <a:prstGeom prst="roundRect">
            <a:avLst>
              <a:gd name="adj" fmla="val 6316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0" y="137160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DSA Engines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search · Text comparison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programming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3291840"/>
            <a:ext cx="283464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778240" y="3291840"/>
            <a:ext cx="2834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API Clients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Open-Meteo · Wikipedia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OSRM routing · OpenStreetMap Overpass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114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USER-FACING AREAS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1188720" cy="594360"/>
          </a:xfrm>
          <a:prstGeom prst="roundRect">
            <a:avLst>
              <a:gd name="adj" fmla="val 18462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48640" y="4480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Search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828800" y="4480560"/>
            <a:ext cx="1188720" cy="594360"/>
          </a:xfrm>
          <a:prstGeom prst="roundRect">
            <a:avLst>
              <a:gd name="adj" fmla="val 18462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1828800" y="4480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Nearby Places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08960" y="4480560"/>
            <a:ext cx="1188720" cy="594360"/>
          </a:xfrm>
          <a:prstGeom prst="roundRect">
            <a:avLst>
              <a:gd name="adj" fmla="val 18462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3108960" y="4480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Comparison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389120" y="4480560"/>
            <a:ext cx="1188720" cy="594360"/>
          </a:xfrm>
          <a:prstGeom prst="roundRect">
            <a:avLst>
              <a:gd name="adj" fmla="val 18462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389120" y="4480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Planning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0" y="4480560"/>
            <a:ext cx="1188720" cy="594360"/>
          </a:xfrm>
          <a:prstGeom prst="roundRect">
            <a:avLst>
              <a:gd name="adj" fmla="val 18462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5669280" y="4480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949440" y="4480560"/>
            <a:ext cx="1188720" cy="594360"/>
          </a:xfrm>
          <a:prstGeom prst="roundRect">
            <a:avLst>
              <a:gd name="adj" fmla="val 18462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6949440" y="44805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Insights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035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2A0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are returned as JSON to the React frontend and displayed to the user.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 flipH="1">
            <a:off x="822960" y="5806440"/>
            <a:ext cx="10149840" cy="0"/>
          </a:xfrm>
          <a:prstGeom prst="line">
            <a:avLst/>
          </a:prstGeom>
          <a:noFill/>
          <a:ln w="31750">
            <a:solidFill>
              <a:srgbClr val="22A06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1097280" cy="100584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306324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45920" y="3566160"/>
            <a:ext cx="27432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920240" y="3063240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920240" y="30632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selects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(React UI)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3566160"/>
            <a:ext cx="27432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3063240"/>
            <a:ext cx="1463040" cy="1005840"/>
          </a:xfrm>
          <a:prstGeom prst="roundRect">
            <a:avLst>
              <a:gd name="adj" fmla="val 10909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657600" y="306324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sends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request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120640" y="3566160"/>
            <a:ext cx="27432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394960" y="2834640"/>
            <a:ext cx="1463040" cy="1463040"/>
          </a:xfrm>
          <a:prstGeom prst="diamond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94960" y="28346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 flipV="1">
            <a:off x="6858000" y="1783080"/>
            <a:ext cx="457200" cy="178308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15200" y="128016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406640" y="12801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algorithms · Edit Distance typo suggestions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09760" y="1783080"/>
            <a:ext cx="36576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 flipV="1">
            <a:off x="6858000" y="2971800"/>
            <a:ext cx="457200" cy="59436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15200" y="246888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406640" y="24688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Suffix Array + LCP · Needleman–Wunsch · Smith–Waterman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509760" y="2971800"/>
            <a:ext cx="36576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858000" y="3566160"/>
            <a:ext cx="457200" cy="59436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315200" y="365760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406640" y="36576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OSRM route matrix + Bitmask DP · Interval DP · Tree DP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509760" y="4160520"/>
            <a:ext cx="36576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858000" y="3566160"/>
            <a:ext cx="457200" cy="178308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4846320"/>
            <a:ext cx="2194560" cy="1005840"/>
          </a:xfrm>
          <a:prstGeom prst="roundRect">
            <a:avLst>
              <a:gd name="adj" fmla="val 10909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406640" y="48463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SOS DP preference matching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509760" y="5349240"/>
            <a:ext cx="36576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875520" y="1280160"/>
            <a:ext cx="1737360" cy="4572000"/>
          </a:xfrm>
          <a:prstGeom prst="roundRect">
            <a:avLst>
              <a:gd name="adj" fmla="val 6316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875520" y="1280160"/>
            <a:ext cx="1737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returns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 result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displays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result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54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data (Open-Meteo, Wikipedia, OSRM, Overpass) is fetched by the backend whenever a feature needs it.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60807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6080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651760" y="60807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7C5CBF"/>
          </a:solidFill>
          <a:ln w="12700">
            <a:solidFill>
              <a:srgbClr val="7C5CB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17520" y="6080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(React)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54880" y="60807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20640" y="6080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858000" y="60807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223760" y="6080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DSA engine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961120" y="6080760"/>
            <a:ext cx="274320" cy="274320"/>
          </a:xfrm>
          <a:prstGeom prst="roundRect">
            <a:avLst>
              <a:gd name="adj" fmla="val 20000"/>
            </a:avLst>
          </a:prstGeom>
          <a:solidFill>
            <a:srgbClr val="22A06B"/>
          </a:solidFill>
          <a:ln w="12700">
            <a:solidFill>
              <a:srgbClr val="22A06B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0" y="6080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234440"/>
            <a:ext cx="3291840" cy="5029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7C5CBF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5C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Vite frontend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828800"/>
            <a:ext cx="2834640" cy="2377440"/>
          </a:xfrm>
          <a:prstGeom prst="roundRect">
            <a:avLst>
              <a:gd name="adj" fmla="val 3846"/>
            </a:avLst>
          </a:prstGeom>
          <a:solidFill>
            <a:srgbClr val="EFEAF8"/>
          </a:solidFill>
          <a:ln w="12700">
            <a:solidFill>
              <a:srgbClr val="EFEA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192024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5C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Pages / UI views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Search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Nearby Places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Comparison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 Planning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Recommendations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Insights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7240" y="4434840"/>
            <a:ext cx="2834640" cy="1554480"/>
          </a:xfrm>
          <a:prstGeom prst="roundRect">
            <a:avLst>
              <a:gd name="adj" fmla="val 5882"/>
            </a:avLst>
          </a:prstGeom>
          <a:solidFill>
            <a:srgbClr val="EFEAF8"/>
          </a:solidFill>
          <a:ln w="12700">
            <a:solidFill>
              <a:srgbClr val="EFEA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52628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5C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client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calls to the backend (JSON)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0" y="3017520"/>
            <a:ext cx="36576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3840480" y="3474720"/>
            <a:ext cx="365760" cy="0"/>
          </a:xfrm>
          <a:prstGeom prst="line">
            <a:avLst/>
          </a:prstGeom>
          <a:noFill/>
          <a:ln w="25400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06240" y="1234440"/>
            <a:ext cx="7406640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254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206240" y="128016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Boot backend · Java 21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34840" y="1828800"/>
            <a:ext cx="3108960" cy="1005840"/>
          </a:xfrm>
          <a:prstGeom prst="roundRect">
            <a:avLst>
              <a:gd name="adj" fmla="val 10909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434840" y="1828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Controllers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endpoints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0" y="2194560"/>
            <a:ext cx="64008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75320" y="1828800"/>
            <a:ext cx="3108960" cy="1005840"/>
          </a:xfrm>
          <a:prstGeom prst="roundRect">
            <a:avLst>
              <a:gd name="adj" fmla="val 10909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75320" y="1828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logic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 flipH="1">
            <a:off x="5532120" y="2834640"/>
            <a:ext cx="4297680" cy="64008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434840" y="3474720"/>
            <a:ext cx="2194560" cy="25603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34840" y="347472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3484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DSA Engine package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44568" y="4005072"/>
            <a:ext cx="197510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search
</a:t>
            </a:r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Naive · KMP · Z-Function · Rabin–Karp · Aho–Corasick
</a:t>
            </a:r>
            <a:pPr algn="l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&amp; sequence
</a:t>
            </a:r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Distance · Suffix Array + LCP · Needleman–Wunsch · Smith–Waterman
</a:t>
            </a:r>
            <a:pPr algn="l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 planning
</a:t>
            </a:r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Bitmask · Interval · Tree · SOS DP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 flipH="1">
            <a:off x="7909560" y="2834640"/>
            <a:ext cx="1920240" cy="64008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812280" y="3474720"/>
            <a:ext cx="2194560" cy="25603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12280" y="347472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1228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922008" y="4005072"/>
            <a:ext cx="197510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Itinerary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TravelPreference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29800" y="2834640"/>
            <a:ext cx="457200" cy="64008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189720" y="3474720"/>
            <a:ext cx="2194560" cy="256032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89720" y="3474720"/>
            <a:ext cx="2194560" cy="45720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18972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API clients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99448" y="4005072"/>
            <a:ext cx="197510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Geocoding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Weather (Open-Meteo)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Wikipedia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Places (Overpass / OSM)</a:t>
            </a:r>
            <a:endParaRPr lang="en-US" sz="12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Routing (OSRM)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Structures &amp; Algorithms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474720" cy="54864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SEARCH &amp; MATCHING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80160" y="2057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Naïve String Search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770632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260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80160" y="277063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KMP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3483864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3931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0160" y="3483864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Z-Function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4197096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35254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80160" y="4197096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Rabin–Karp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910328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065776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80160" y="49103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Aho–Corasick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4343400" y="1325880"/>
            <a:ext cx="3474720" cy="548640"/>
          </a:xfrm>
          <a:prstGeom prst="roundRect">
            <a:avLst>
              <a:gd name="adj" fmla="val 2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4343400" y="1325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TEXT COMPARISON &amp; ALIGNMENT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4343400" y="2057400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212848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074920" y="2057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Distance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343400" y="2770632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2926080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074920" y="277063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Suffix Array</a:t>
            </a:r>
            <a:endParaRPr lang="en-US" sz="1400" dirty="0"/>
          </a:p>
        </p:txBody>
      </p:sp>
      <p:sp>
        <p:nvSpPr>
          <p:cNvPr id="32" name="Shape 23"/>
          <p:cNvSpPr/>
          <p:nvPr/>
        </p:nvSpPr>
        <p:spPr>
          <a:xfrm>
            <a:off x="4343400" y="3483864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0" y="3639312"/>
            <a:ext cx="274320" cy="27432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5074920" y="3483864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 (Kasai)</a:t>
            </a:r>
            <a:endParaRPr lang="en-US" sz="1400" dirty="0"/>
          </a:p>
        </p:txBody>
      </p:sp>
      <p:sp>
        <p:nvSpPr>
          <p:cNvPr id="35" name="Shape 25"/>
          <p:cNvSpPr/>
          <p:nvPr/>
        </p:nvSpPr>
        <p:spPr>
          <a:xfrm>
            <a:off x="4343400" y="4197096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0" y="4352544"/>
            <a:ext cx="274320" cy="27432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5074920" y="4197096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Needleman–Wunsch</a:t>
            </a:r>
            <a:endParaRPr lang="en-US" sz="1400" dirty="0"/>
          </a:p>
        </p:txBody>
      </p:sp>
      <p:sp>
        <p:nvSpPr>
          <p:cNvPr id="38" name="Shape 27"/>
          <p:cNvSpPr/>
          <p:nvPr/>
        </p:nvSpPr>
        <p:spPr>
          <a:xfrm>
            <a:off x="4343400" y="4910328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0" y="5065776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074920" y="4910328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Smith–Waterman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8138160" y="1325880"/>
            <a:ext cx="3474720" cy="548640"/>
          </a:xfrm>
          <a:prstGeom prst="roundRect">
            <a:avLst>
              <a:gd name="adj" fmla="val 2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2" name="Text 30"/>
          <p:cNvSpPr txBox="1"/>
          <p:nvPr/>
        </p:nvSpPr>
        <p:spPr>
          <a:xfrm>
            <a:off x="8138160" y="13258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PROGRAMMING (PLANNING)</a:t>
            </a:r>
            <a:endParaRPr lang="en-US" sz="1100" dirty="0"/>
          </a:p>
        </p:txBody>
      </p:sp>
      <p:sp>
        <p:nvSpPr>
          <p:cNvPr id="43" name="Shape 31"/>
          <p:cNvSpPr/>
          <p:nvPr/>
        </p:nvSpPr>
        <p:spPr>
          <a:xfrm>
            <a:off x="8138160" y="2057400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4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66760" y="2212848"/>
            <a:ext cx="274320" cy="274320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8869680" y="2057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Bitmask DP</a:t>
            </a:r>
            <a:endParaRPr lang="en-US" sz="1400" dirty="0"/>
          </a:p>
        </p:txBody>
      </p:sp>
      <p:sp>
        <p:nvSpPr>
          <p:cNvPr id="46" name="Shape 33"/>
          <p:cNvSpPr/>
          <p:nvPr/>
        </p:nvSpPr>
        <p:spPr>
          <a:xfrm>
            <a:off x="8138160" y="2770632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47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66760" y="2926080"/>
            <a:ext cx="274320" cy="274320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8869680" y="2770632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Interval DP</a:t>
            </a:r>
            <a:endParaRPr lang="en-US" sz="1400" dirty="0"/>
          </a:p>
        </p:txBody>
      </p:sp>
      <p:sp>
        <p:nvSpPr>
          <p:cNvPr id="49" name="Shape 35"/>
          <p:cNvSpPr/>
          <p:nvPr/>
        </p:nvSpPr>
        <p:spPr>
          <a:xfrm>
            <a:off x="8138160" y="3483864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6760" y="3639312"/>
            <a:ext cx="274320" cy="274320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8869680" y="3483864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 DP</a:t>
            </a:r>
            <a:endParaRPr lang="en-US" sz="1400" dirty="0"/>
          </a:p>
        </p:txBody>
      </p:sp>
      <p:sp>
        <p:nvSpPr>
          <p:cNvPr id="52" name="Shape 37"/>
          <p:cNvSpPr/>
          <p:nvPr/>
        </p:nvSpPr>
        <p:spPr>
          <a:xfrm>
            <a:off x="8138160" y="4197096"/>
            <a:ext cx="347472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6760" y="4352544"/>
            <a:ext cx="274320" cy="274320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8869680" y="4197096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SOS DP</a:t>
            </a:r>
            <a:endParaRPr lang="en-US" sz="1400" dirty="0"/>
          </a:p>
        </p:txBody>
      </p:sp>
      <p:sp>
        <p:nvSpPr>
          <p:cNvPr id="55" name="Text 39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These 14 engines are the algorithms implemented in the project. Edit Distance, Needleman–Wunsch and Smith–Waterman are also dynamic-programming techniques.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Search in TravelSync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Query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71800" y="1600200"/>
            <a:ext cx="36576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383280" y="1325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Information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806440" y="1600200"/>
            <a:ext cx="36576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17920" y="132588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17920" y="1325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 Algorithm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41080" y="1600200"/>
            <a:ext cx="36576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52560" y="132588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052560" y="132588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Relevant Result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2651760"/>
            <a:ext cx="2103120" cy="33832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234440" y="2880360"/>
            <a:ext cx="731520" cy="731520"/>
          </a:xfrm>
          <a:prstGeom prst="ellipse">
            <a:avLst/>
          </a:prstGeom>
          <a:solidFill>
            <a:srgbClr val="5B6B7F"/>
          </a:solidFill>
          <a:ln w="12700">
            <a:solidFill>
              <a:srgbClr val="5B6B7F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3081528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64008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Naïve Search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417320" y="434340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4800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string matching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2788920" y="2651760"/>
            <a:ext cx="2103120" cy="33832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74720" y="2880360"/>
            <a:ext cx="731520" cy="7315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88" y="3081528"/>
            <a:ext cx="329184" cy="32918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288036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KMP &amp; Z-Function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3657600" y="434340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926080" y="4800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searching in travel text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5029200" y="2651760"/>
            <a:ext cx="2103120" cy="33832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5715000" y="2880360"/>
            <a:ext cx="731520" cy="73152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3081528"/>
            <a:ext cx="329184" cy="329184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512064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Aho–Corasick</a:t>
            </a:r>
            <a:endParaRPr lang="en-US" sz="1400" dirty="0"/>
          </a:p>
        </p:txBody>
      </p:sp>
      <p:sp>
        <p:nvSpPr>
          <p:cNvPr id="34" name="Shape 29"/>
          <p:cNvSpPr/>
          <p:nvPr/>
        </p:nvSpPr>
        <p:spPr>
          <a:xfrm>
            <a:off x="5897880" y="434340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5166360" y="4800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keyword search</a:t>
            </a:r>
            <a:endParaRPr lang="en-US" sz="1300" dirty="0"/>
          </a:p>
        </p:txBody>
      </p:sp>
      <p:sp>
        <p:nvSpPr>
          <p:cNvPr id="36" name="Shape 31"/>
          <p:cNvSpPr/>
          <p:nvPr/>
        </p:nvSpPr>
        <p:spPr>
          <a:xfrm>
            <a:off x="7269480" y="2651760"/>
            <a:ext cx="2103120" cy="33832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7955280" y="2880360"/>
            <a:ext cx="731520" cy="7315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6448" y="3081528"/>
            <a:ext cx="329184" cy="329184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36092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Rabin–Karp</a:t>
            </a:r>
            <a:endParaRPr lang="en-US" sz="1400" dirty="0"/>
          </a:p>
        </p:txBody>
      </p:sp>
      <p:sp>
        <p:nvSpPr>
          <p:cNvPr id="40" name="Shape 34"/>
          <p:cNvSpPr/>
          <p:nvPr/>
        </p:nvSpPr>
        <p:spPr>
          <a:xfrm>
            <a:off x="8138160" y="434340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7406640" y="4800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Booking-code search</a:t>
            </a:r>
            <a:endParaRPr lang="en-US" sz="1300" dirty="0"/>
          </a:p>
        </p:txBody>
      </p:sp>
      <p:sp>
        <p:nvSpPr>
          <p:cNvPr id="42" name="Shape 36"/>
          <p:cNvSpPr/>
          <p:nvPr/>
        </p:nvSpPr>
        <p:spPr>
          <a:xfrm>
            <a:off x="9509760" y="2651760"/>
            <a:ext cx="2103120" cy="338328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10195560" y="2880360"/>
            <a:ext cx="731520" cy="73152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6728" y="3081528"/>
            <a:ext cx="329184" cy="329184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960120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Distance</a:t>
            </a:r>
            <a:endParaRPr lang="en-US" sz="1400" dirty="0"/>
          </a:p>
        </p:txBody>
      </p:sp>
      <p:sp>
        <p:nvSpPr>
          <p:cNvPr id="46" name="Shape 39"/>
          <p:cNvSpPr/>
          <p:nvPr/>
        </p:nvSpPr>
        <p:spPr>
          <a:xfrm>
            <a:off x="10378440" y="434340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9646920" y="480060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typo suggestions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Description Comparison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566160" cy="16002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1554480"/>
            <a:ext cx="457200" cy="54864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SUFFIX ARRAY + LCP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103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the longest common substring shared by two destination descriptions.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325880"/>
            <a:ext cx="3566160" cy="16002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554480"/>
            <a:ext cx="457200" cy="5486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NEEDLEMAN–WUNSCH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Aligns two complete descriptions end to end and scores their similarity.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325880"/>
            <a:ext cx="3566160" cy="16002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554480"/>
            <a:ext cx="45720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6916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SMITH–WATERMAN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031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the best-matching local region between two descriptions.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42976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DESCRIPTION A (illustrative)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37490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 offers </a:t>
            </a:r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highlight>
                  <a:srgbClr val="FFD9A8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sandy beaches</a:t>
            </a:r>
            <a:pPr algn="l" indent="0" marL="0">
              <a:buNone/>
            </a:pPr>
            <a:r>
              <a:rPr lang="en-US" sz="14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lively nightlife.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15200" y="3291840"/>
            <a:ext cx="42976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8952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DESCRIPTION B (illustrative)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589520" y="37490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Visitors love the 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highlight>
                  <a:srgbClr val="FFD9A8"/>
                </a:highlight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sandy beaches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coastal Goa.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40680" y="3703320"/>
            <a:ext cx="1280160" cy="128016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0680" y="3703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4343400"/>
            <a:ext cx="59436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 flipH="1">
            <a:off x="6720840" y="4343400"/>
            <a:ext cx="59436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97880" y="5029200"/>
            <a:ext cx="365760" cy="32004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06240" y="5669280"/>
            <a:ext cx="3749040" cy="502920"/>
          </a:xfrm>
          <a:prstGeom prst="roundRect">
            <a:avLst>
              <a:gd name="adj" fmla="val 21818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206240" y="56692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Text · Alignment Score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Programming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651760" cy="283464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00200"/>
            <a:ext cx="731520" cy="73152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365760" cy="3657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724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BITMASK DP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Multi-destination route ordering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383280" y="1371600"/>
            <a:ext cx="2651760" cy="283464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11880" y="1600200"/>
            <a:ext cx="731520" cy="7315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78308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1188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INTERVAL DP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11880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Choosing non-overlapping activities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217920" y="1371600"/>
            <a:ext cx="2651760" cy="283464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46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 DP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446520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Hierarchical travel-plan optimization under a budget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9052560" y="1371600"/>
            <a:ext cx="2651760" cy="283464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81160" y="1600200"/>
            <a:ext cx="731520" cy="7315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1783080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8116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SOS DP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281160" y="301752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Preference-based recommendations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548640" y="4572000"/>
            <a:ext cx="11064240" cy="137160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8" name="Text 22"/>
          <p:cNvSpPr txBox="1"/>
          <p:nvPr/>
        </p:nvSpPr>
        <p:spPr>
          <a:xfrm>
            <a:off x="868680" y="4709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DP TECHNIQUES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868680" y="5074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Distance  ·  Needleman–Wunsch  ·  Smith–Waterman</a:t>
            </a:r>
            <a:endParaRPr lang="en-US" sz="1800" dirty="0"/>
          </a:p>
        </p:txBody>
      </p:sp>
      <p:sp>
        <p:nvSpPr>
          <p:cNvPr id="30" name="Text 24"/>
          <p:cNvSpPr txBox="1"/>
          <p:nvPr/>
        </p:nvSpPr>
        <p:spPr>
          <a:xfrm>
            <a:off x="868680" y="553212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6E8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Used for typo suggestions and description alignment.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Multi-Destination Itinerary Optimization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Destinations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920240" y="210312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51460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2514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OSRM Route Matrix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920240" y="329184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70332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Bitmask DP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920240" y="4480560"/>
            <a:ext cx="365760" cy="365760"/>
          </a:xfrm>
          <a:prstGeom prst="down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892040"/>
            <a:ext cx="3108960" cy="731520"/>
          </a:xfrm>
          <a:prstGeom prst="roundRect">
            <a:avLst>
              <a:gd name="adj" fmla="val 15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4864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Ordered Itinerary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Route Totals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06240" y="1325880"/>
            <a:ext cx="740664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19178" y="2138154"/>
            <a:ext cx="320413" cy="825964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19178" y="2138154"/>
            <a:ext cx="219846" cy="1296519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042495" y="2138154"/>
            <a:ext cx="676683" cy="318519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6619637" y="2138154"/>
            <a:ext cx="99541" cy="1576097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9023521" y="2250475"/>
            <a:ext cx="1937268" cy="406025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60789" y="2656501"/>
            <a:ext cx="203669" cy="144306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60789" y="2656501"/>
            <a:ext cx="117589" cy="1043463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11760" y="1515749"/>
            <a:ext cx="1649029" cy="1140752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10721083" y="2656501"/>
            <a:ext cx="239706" cy="1082405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10471598" y="1967113"/>
            <a:ext cx="489191" cy="689387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10298594" y="2656501"/>
            <a:ext cx="662195" cy="747121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10027378" y="2543406"/>
            <a:ext cx="933412" cy="113094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023521" y="1515749"/>
            <a:ext cx="288239" cy="734726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023521" y="1967113"/>
            <a:ext cx="1448077" cy="283362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23521" y="2250475"/>
            <a:ext cx="1275073" cy="1153146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23521" y="2250475"/>
            <a:ext cx="1003857" cy="292931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11078379" y="2800807"/>
            <a:ext cx="86079" cy="899157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10721083" y="2800807"/>
            <a:ext cx="443375" cy="938099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10471598" y="1967113"/>
            <a:ext cx="692860" cy="833694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>
            <a:off x="10298594" y="2800807"/>
            <a:ext cx="865864" cy="602814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 flipV="1">
            <a:off x="10027378" y="2543406"/>
            <a:ext cx="1137080" cy="257401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6939024" y="2964118"/>
            <a:ext cx="100567" cy="470555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 flipV="1">
            <a:off x="6042495" y="2456673"/>
            <a:ext cx="997096" cy="507445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>
            <a:off x="6619637" y="2964118"/>
            <a:ext cx="419954" cy="750133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10721083" y="3699964"/>
            <a:ext cx="357296" cy="38942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10471598" y="1967113"/>
            <a:ext cx="606781" cy="1732851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10298594" y="3403621"/>
            <a:ext cx="779785" cy="296343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10027378" y="2543406"/>
            <a:ext cx="1051001" cy="1156558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042495" y="2456673"/>
            <a:ext cx="896529" cy="978000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6619637" y="3434673"/>
            <a:ext cx="319387" cy="279577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311760" y="1515749"/>
            <a:ext cx="1159838" cy="451364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311760" y="1515749"/>
            <a:ext cx="715618" cy="1027657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10471598" y="1967113"/>
            <a:ext cx="249485" cy="1771793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10298594" y="3403621"/>
            <a:ext cx="422489" cy="335285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10027378" y="2543406"/>
            <a:ext cx="693705" cy="1195500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>
            <a:off x="10298594" y="1967113"/>
            <a:ext cx="173004" cy="1436508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10027378" y="1967113"/>
            <a:ext cx="444220" cy="576293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42495" y="2456673"/>
            <a:ext cx="577142" cy="1257578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 flipV="1">
            <a:off x="10027378" y="2543406"/>
            <a:ext cx="271216" cy="860215"/>
          </a:xfrm>
          <a:prstGeom prst="line">
            <a:avLst/>
          </a:prstGeom>
          <a:noFill/>
          <a:ln w="9525">
            <a:solidFill>
              <a:srgbClr val="D6E8F5">
                <a:alpha val="3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673458" y="2092434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915069" y="2610781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977801" y="2204755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118738" y="2755087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993871" y="2918398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1032659" y="3654244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93304" y="3388953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6040" y="1470029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675363" y="3693186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25878" y="1921393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996775" y="2410953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252874" y="3357901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981658" y="2497686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573917" y="3668531"/>
            <a:ext cx="91440" cy="91440"/>
          </a:xfrm>
          <a:prstGeom prst="ellipse">
            <a:avLst/>
          </a:prstGeom>
          <a:solidFill>
            <a:srgbClr val="D6E8F5">
              <a:alpha val="70000"/>
            </a:srgbClr>
          </a:solidFill>
          <a:ln w="12700">
            <a:solidFill>
              <a:srgbClr val="D6E8F5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315200" y="2377440"/>
            <a:ext cx="2743200" cy="1005840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 flipH="1">
            <a:off x="8138160" y="3383280"/>
            <a:ext cx="1920240" cy="822960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H="1" flipV="1">
            <a:off x="5486400" y="3840480"/>
            <a:ext cx="2651760" cy="365760"/>
          </a:xfrm>
          <a:prstGeom prst="line">
            <a:avLst/>
          </a:prstGeom>
          <a:noFill/>
          <a:ln w="38100">
            <a:solidFill>
              <a:srgbClr val="F28C28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7086600" y="2148840"/>
            <a:ext cx="457200" cy="457200"/>
          </a:xfrm>
          <a:prstGeom prst="ellipse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708660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7" name="Text 75"/>
          <p:cNvSpPr txBox="1"/>
          <p:nvPr/>
        </p:nvSpPr>
        <p:spPr>
          <a:xfrm>
            <a:off x="649224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Hyderabad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9829800" y="3154680"/>
            <a:ext cx="457200" cy="45720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82980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92354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Chennai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909560" y="3977640"/>
            <a:ext cx="457200" cy="45720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9095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83" name="Text 81"/>
          <p:cNvSpPr txBox="1"/>
          <p:nvPr/>
        </p:nvSpPr>
        <p:spPr>
          <a:xfrm>
            <a:off x="7315200" y="4480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Bangalore</a:t>
            </a:r>
            <a:endParaRPr lang="en-US" sz="1200" dirty="0"/>
          </a:p>
        </p:txBody>
      </p:sp>
      <p:sp>
        <p:nvSpPr>
          <p:cNvPr id="84" name="Shape 82"/>
          <p:cNvSpPr/>
          <p:nvPr/>
        </p:nvSpPr>
        <p:spPr>
          <a:xfrm>
            <a:off x="5257800" y="3611880"/>
            <a:ext cx="457200" cy="457200"/>
          </a:xfrm>
          <a:prstGeom prst="ellipse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5257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86" name="Text 84"/>
          <p:cNvSpPr txBox="1"/>
          <p:nvPr/>
        </p:nvSpPr>
        <p:spPr>
          <a:xfrm>
            <a:off x="46634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4480560" y="48920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example: Hyderabad → Chennai → Bangalore → Goa</a:t>
            </a:r>
            <a:endParaRPr lang="en-US" sz="1500" dirty="0"/>
          </a:p>
        </p:txBody>
      </p:sp>
      <p:sp>
        <p:nvSpPr>
          <p:cNvPr id="88" name="Text 86"/>
          <p:cNvSpPr txBox="1"/>
          <p:nvPr/>
        </p:nvSpPr>
        <p:spPr>
          <a:xfrm>
            <a:off x="4480560" y="52578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Route costs come from OSRM; Bitmask DP selects an optimized visiting order.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480560" y="5577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layout only – not an actual computed result.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SOS DP – Travel Preference Matching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6126480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PREFERENCE CATEGORIES (8-BIT MASK)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234440" y="1874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33172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00000001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6243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4440" y="25328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2331720" y="25328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00000010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8269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4440" y="319125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Adventure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2331720" y="319125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00000100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94106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8496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Nature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331720" y="38496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00001000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0" y="196596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160520" y="1874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Food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5257800" y="18745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00010000</a:t>
            </a:r>
            <a:endParaRPr lang="en-US" sz="12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0" y="2624328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160520" y="25328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Nightlife</a:t>
            </a:r>
            <a:endParaRPr lang="en-US" sz="1200" dirty="0"/>
          </a:p>
        </p:txBody>
      </p:sp>
      <p:sp>
        <p:nvSpPr>
          <p:cNvPr id="26" name="Text 18"/>
          <p:cNvSpPr txBox="1"/>
          <p:nvPr/>
        </p:nvSpPr>
        <p:spPr>
          <a:xfrm>
            <a:off x="5257800" y="253288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00100000</a:t>
            </a:r>
            <a:endParaRPr lang="en-US" sz="12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282696"/>
            <a:ext cx="274320" cy="2743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4160520" y="319125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Relaxation</a:t>
            </a:r>
            <a:endParaRPr lang="en-US" sz="1200" dirty="0"/>
          </a:p>
        </p:txBody>
      </p:sp>
      <p:sp>
        <p:nvSpPr>
          <p:cNvPr id="29" name="Text 20"/>
          <p:cNvSpPr txBox="1"/>
          <p:nvPr/>
        </p:nvSpPr>
        <p:spPr>
          <a:xfrm>
            <a:off x="5257800" y="319125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01000000</a:t>
            </a:r>
            <a:endParaRPr lang="en-US" sz="1200" dirty="0"/>
          </a:p>
        </p:txBody>
      </p:sp>
      <p:pic>
        <p:nvPicPr>
          <p:cNvPr id="3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9040" y="3941064"/>
            <a:ext cx="274320" cy="2743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160520" y="384962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Shopping</a:t>
            </a:r>
            <a:endParaRPr lang="en-US" sz="1200" dirty="0"/>
          </a:p>
        </p:txBody>
      </p:sp>
      <p:sp>
        <p:nvSpPr>
          <p:cNvPr id="32" name="Text 22"/>
          <p:cNvSpPr txBox="1"/>
          <p:nvPr/>
        </p:nvSpPr>
        <p:spPr>
          <a:xfrm>
            <a:off x="5257800" y="3849624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10000000</a:t>
            </a:r>
            <a:endParaRPr lang="en-US" sz="1200" dirty="0"/>
          </a:p>
        </p:txBody>
      </p:sp>
      <p:sp>
        <p:nvSpPr>
          <p:cNvPr id="33" name="Shape 23"/>
          <p:cNvSpPr/>
          <p:nvPr/>
        </p:nvSpPr>
        <p:spPr>
          <a:xfrm>
            <a:off x="6949440" y="1325880"/>
            <a:ext cx="4663440" cy="3291840"/>
          </a:xfrm>
          <a:prstGeom prst="roundRect">
            <a:avLst>
              <a:gd name="adj" fmla="val 4167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4" name="Text 24"/>
          <p:cNvSpPr txBox="1"/>
          <p:nvPr/>
        </p:nvSpPr>
        <p:spPr>
          <a:xfrm>
            <a:off x="72237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EXAMPLE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722376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Beach + Nightlife + Relaxation</a:t>
            </a:r>
            <a:endParaRPr lang="en-US" sz="1600" dirty="0"/>
          </a:p>
        </p:txBody>
      </p:sp>
      <p:sp>
        <p:nvSpPr>
          <p:cNvPr id="36" name="Text 26"/>
          <p:cNvSpPr txBox="1"/>
          <p:nvPr/>
        </p:nvSpPr>
        <p:spPr>
          <a:xfrm>
            <a:off x="7223760" y="26060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00000001 + 00100000 + 01000000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F28C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01100001</a:t>
            </a:r>
            <a:endParaRPr lang="en-US" sz="1500" dirty="0"/>
          </a:p>
        </p:txBody>
      </p:sp>
      <p:sp>
        <p:nvSpPr>
          <p:cNvPr id="37" name="Text 27"/>
          <p:cNvSpPr txBox="1"/>
          <p:nvPr/>
        </p:nvSpPr>
        <p:spPr>
          <a:xfrm>
            <a:off x="7223760" y="36576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D6E8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Bits 0, 5 and 6 are set (1 + 32 + 64 = 97).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548640" y="5029200"/>
            <a:ext cx="3200400" cy="822960"/>
          </a:xfrm>
          <a:prstGeom prst="roundRect">
            <a:avLst>
              <a:gd name="adj" fmla="val 1333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9" name="Text 29"/>
          <p:cNvSpPr txBox="1"/>
          <p:nvPr/>
        </p:nvSpPr>
        <p:spPr>
          <a:xfrm>
            <a:off x="54864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Preference Mask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3840480" y="5303520"/>
            <a:ext cx="54864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4480560" y="5029200"/>
            <a:ext cx="3200400" cy="822960"/>
          </a:xfrm>
          <a:prstGeom prst="roundRect">
            <a:avLst>
              <a:gd name="adj" fmla="val 13333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2" name="Text 32"/>
          <p:cNvSpPr txBox="1"/>
          <p:nvPr/>
        </p:nvSpPr>
        <p:spPr>
          <a:xfrm>
            <a:off x="448056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SOS DP (subset sums over 2⁸ masks)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7772400" y="5303520"/>
            <a:ext cx="54864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8412480" y="5029200"/>
            <a:ext cx="3200400" cy="822960"/>
          </a:xfrm>
          <a:prstGeom prst="roundRect">
            <a:avLst>
              <a:gd name="adj" fmla="val 13333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5" name="Text 35"/>
          <p:cNvSpPr txBox="1"/>
          <p:nvPr/>
        </p:nvSpPr>
        <p:spPr>
          <a:xfrm>
            <a:off x="8412480" y="50292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Ranked Recommendations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4206240" cy="4663440"/>
          </a:xfrm>
          <a:prstGeom prst="roundRect">
            <a:avLst>
              <a:gd name="adj" fmla="val 3261"/>
            </a:avLst>
          </a:prstGeom>
          <a:solidFill>
            <a:srgbClr val="0B1F3A"/>
          </a:solidFill>
          <a:ln w="9525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28800" y="1645920"/>
            <a:ext cx="1463040" cy="146304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210312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34747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AUTOMATED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JAVA TESTS PASSED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4617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failures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0749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8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Based on the latest checked test report.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20640" y="132588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4924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Naïve Search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58952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120640" y="196596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349240" y="1965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KMP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1965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120640" y="260604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49240" y="2606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Z-Function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06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120640" y="324612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34924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Rabin–Karp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3246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5120640" y="388620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349240" y="3886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Aho–Corasick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3886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120640" y="452628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349240" y="4526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Distance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589520" y="4526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120640" y="516636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349240" y="5166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Suffix Array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7589520" y="5166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8412480" y="132588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641080" y="1325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LCP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10881360" y="1325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412480" y="196596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8641080" y="1965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Needleman–Wunsch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10881360" y="1965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8412480" y="260604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641080" y="2606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Smith–Waterman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10881360" y="26060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8412480" y="324612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641080" y="3246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Bitmask DP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10881360" y="32461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8412480" y="388620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641080" y="3886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Interval DP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10881360" y="38862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8412480" y="452628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50" name="Text 47"/>
          <p:cNvSpPr txBox="1"/>
          <p:nvPr/>
        </p:nvSpPr>
        <p:spPr>
          <a:xfrm>
            <a:off x="8641080" y="4526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 DP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10881360" y="4526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8412480" y="5166360"/>
            <a:ext cx="3108960" cy="5486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8641080" y="5166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SOS DP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10881360" y="5166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5120640" y="58064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 tests covered by the automated Java test suite.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Algorithmic Complexity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544068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200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Algorithm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 Complexity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Naïve Search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KMP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 + 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Z-Function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 + 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Rabin–Karp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avg O(n + m); worst O(nm)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Aho–Corasick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O(total pattern length + n + matches)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Edit Distance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Suffix Array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 log² n)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80160"/>
          <a:ext cx="544068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2004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Algorithm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 Complexity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LCP (Kasai)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Needleman–Wunsch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Smith–Waterman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O(nm)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Bitmask DP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O(n² · 2ⁿ)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Interval DP (scheduling)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 log n)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Tree DP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O(N · B²) time; O(N · B) space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1F3A"/>
                          </a:solidFill>
                        </a:rPr>
                        <a:t>SOS DP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6FB8"/>
                          </a:solidFill>
                        </a:rPr>
                        <a:t>O(k · 2ᵏ)</a:t>
                      </a:r>
                      <a:endParaRPr lang="en-US" sz="12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77240" y="53949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Variables: </a:t>
            </a:r>
            <a:pPr algn="l" indent="0" marL="0">
              <a:buNone/>
            </a:pPr>
            <a:r>
              <a:rPr lang="en-US" sz="11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n, m = lengths of the text and pattern (or the two strings; n alone = string length for Suffix Array / LCP). For Bitmask DP, n = destinations; for Interval DP, n = activities. Tree DP: N = tree nodes, B = budget. SOS DP: k = number of preference bits.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 &amp; Future Scope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822960" cy="54864"/>
          </a:xfrm>
          <a:prstGeom prst="rect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 |  DSA Review-1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155680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6F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182880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combines a React web interface, external travel-data services and a Java Spring Boot backend with DSA-powered features for search, text comparison, route ordering, activity scheduling and recommendations.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286000" cy="1097280"/>
          </a:xfrm>
          <a:prstGeom prst="roundRect">
            <a:avLst>
              <a:gd name="adj" fmla="val 100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4983480"/>
            <a:ext cx="457200" cy="274320"/>
          </a:xfrm>
          <a:prstGeom prst="rightArrow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74720" y="4572000"/>
            <a:ext cx="2468880" cy="1097280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3474720" y="45720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Enhancements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5303520" cy="219456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836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0" y="1947672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49440" y="187452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Vite web interface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83680" y="2331720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225856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API integrations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583680" y="2715768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49440" y="264261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Preference-based recommendations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83680" y="3099816"/>
            <a:ext cx="201168" cy="20116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49440" y="302666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DSA engines with automated tests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3703320"/>
            <a:ext cx="5303520" cy="25146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5836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8C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SCOPE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83680" y="4325112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949440" y="425196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database storage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583680" y="4709160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49440" y="463600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Broader live datasets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583680" y="5093208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49440" y="502005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robust recommendation personalization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83680" y="5477256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949440" y="540410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583680" y="5861304"/>
            <a:ext cx="201168" cy="20116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49440" y="5788152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real-world performance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7525775" y="5781293"/>
            <a:ext cx="377962" cy="42127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 flipV="1">
            <a:off x="7231329" y="4486363"/>
            <a:ext cx="672408" cy="171620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903737" y="5406466"/>
            <a:ext cx="1415925" cy="79610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7337263" y="4602545"/>
            <a:ext cx="566474" cy="160002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7903737" y="5598201"/>
            <a:ext cx="1436882" cy="60436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6172514" y="6058870"/>
            <a:ext cx="1731223" cy="14369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7903737" y="4923749"/>
            <a:ext cx="397251" cy="127881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7903737" y="4673453"/>
            <a:ext cx="347517" cy="152911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2369432" y="713758"/>
            <a:ext cx="1249725" cy="153187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9157" y="713758"/>
            <a:ext cx="1371716" cy="50541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619157" y="452173"/>
            <a:ext cx="530815" cy="26158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5337" y="5208558"/>
            <a:ext cx="349185" cy="36271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1429896" y="5208558"/>
            <a:ext cx="1345441" cy="14440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75337" y="5208558"/>
            <a:ext cx="915450" cy="86900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2492569" y="3440436"/>
            <a:ext cx="282768" cy="176812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75337" y="5208558"/>
            <a:ext cx="1567839" cy="45725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69432" y="2245636"/>
            <a:ext cx="1254105" cy="86242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 flipV="1">
            <a:off x="473469" y="2164262"/>
            <a:ext cx="1895963" cy="8137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758635" y="2245636"/>
            <a:ext cx="1610797" cy="54862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69432" y="2245636"/>
            <a:ext cx="123137" cy="119480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69432" y="2245636"/>
            <a:ext cx="317801" cy="34854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942872" y="2125574"/>
            <a:ext cx="1426560" cy="12006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>
            <a:off x="8939927" y="2323659"/>
            <a:ext cx="818484" cy="22283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758410" y="579232"/>
            <a:ext cx="778967" cy="174442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58410" y="2323659"/>
            <a:ext cx="630285" cy="23900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041794" y="1908969"/>
            <a:ext cx="716616" cy="41469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8727851" y="1220405"/>
            <a:ext cx="1030560" cy="110325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7231329" y="4486363"/>
            <a:ext cx="294446" cy="129493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7525775" y="5406466"/>
            <a:ext cx="1793887" cy="37482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7337263" y="4602545"/>
            <a:ext cx="188512" cy="117874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7525775" y="5598201"/>
            <a:ext cx="1814844" cy="18309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172514" y="5781293"/>
            <a:ext cx="1353261" cy="27757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7525775" y="4923749"/>
            <a:ext cx="775213" cy="85754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595821" y="5730140"/>
            <a:ext cx="1929953" cy="5115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7525775" y="4673453"/>
            <a:ext cx="725479" cy="110784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10388695" y="2562666"/>
            <a:ext cx="1197906" cy="99653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11586600" y="3318375"/>
            <a:ext cx="223545" cy="24083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623537" y="3108060"/>
            <a:ext cx="1783669" cy="89646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23537" y="3108060"/>
            <a:ext cx="1736541" cy="60178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2492569" y="3108060"/>
            <a:ext cx="1130967" cy="33237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2687233" y="2594181"/>
            <a:ext cx="936304" cy="51388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 flipV="1">
            <a:off x="5360077" y="3709841"/>
            <a:ext cx="47128" cy="29468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07205" y="4004528"/>
            <a:ext cx="1824124" cy="48183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>
            <a:off x="4343177" y="4004528"/>
            <a:ext cx="1064029" cy="166128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07205" y="4004528"/>
            <a:ext cx="188616" cy="172561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1429896" y="5352962"/>
            <a:ext cx="1694626" cy="21831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24522" y="5571272"/>
            <a:ext cx="566266" cy="50629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24522" y="5571272"/>
            <a:ext cx="1218654" cy="9454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3469" y="2164262"/>
            <a:ext cx="285166" cy="63000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473469" y="2125574"/>
            <a:ext cx="469403" cy="3868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31329" y="4486363"/>
            <a:ext cx="105934" cy="11618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7231329" y="3249113"/>
            <a:ext cx="539782" cy="123725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>
            <a:off x="6172514" y="4486363"/>
            <a:ext cx="1058815" cy="157250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231329" y="4486363"/>
            <a:ext cx="1069659" cy="43738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231329" y="4486363"/>
            <a:ext cx="1019924" cy="18709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939927" y="2546497"/>
            <a:ext cx="553441" cy="182198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39927" y="2546497"/>
            <a:ext cx="1448768" cy="1616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H="1">
            <a:off x="7771111" y="2546497"/>
            <a:ext cx="1168815" cy="70261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939927" y="1908969"/>
            <a:ext cx="101867" cy="63752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 flipV="1">
            <a:off x="8727851" y="1220405"/>
            <a:ext cx="212076" cy="132609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185586" y="260909"/>
            <a:ext cx="351792" cy="31832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H="1">
            <a:off x="9041794" y="260909"/>
            <a:ext cx="1143792" cy="164806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0185586" y="239272"/>
            <a:ext cx="1112721" cy="2163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H="1">
            <a:off x="8727851" y="260909"/>
            <a:ext cx="1457735" cy="95949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8635" y="2794265"/>
            <a:ext cx="1733934" cy="646171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758635" y="2594181"/>
            <a:ext cx="1928598" cy="20008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758635" y="2125574"/>
            <a:ext cx="184237" cy="66869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H="1">
            <a:off x="10388695" y="579232"/>
            <a:ext cx="148683" cy="198343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H="1">
            <a:off x="9041794" y="579232"/>
            <a:ext cx="1495583" cy="132973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10537377" y="239272"/>
            <a:ext cx="760929" cy="33996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H="1">
            <a:off x="8727851" y="579232"/>
            <a:ext cx="1809527" cy="64117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H="1">
            <a:off x="9319661" y="4368477"/>
            <a:ext cx="173706" cy="103799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H="1">
            <a:off x="9340619" y="4368477"/>
            <a:ext cx="152749" cy="122972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H="1">
            <a:off x="8300988" y="4368477"/>
            <a:ext cx="1192379" cy="55527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>
            <a:off x="8251254" y="4368477"/>
            <a:ext cx="1242114" cy="30497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H="1" flipV="1">
            <a:off x="9041794" y="1908969"/>
            <a:ext cx="1346901" cy="65369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0388695" y="2562666"/>
            <a:ext cx="1421451" cy="755709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19661" y="5406466"/>
            <a:ext cx="20957" cy="19173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H="1" flipV="1">
            <a:off x="8300988" y="4923749"/>
            <a:ext cx="1018673" cy="48271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H="1" flipV="1">
            <a:off x="8251254" y="4673453"/>
            <a:ext cx="1068408" cy="73301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7337263" y="3249113"/>
            <a:ext cx="433848" cy="135343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6172514" y="4602545"/>
            <a:ext cx="1164749" cy="145632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337263" y="4602545"/>
            <a:ext cx="963725" cy="32120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37263" y="4602545"/>
            <a:ext cx="913991" cy="7090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3690788" y="5665817"/>
            <a:ext cx="652389" cy="41175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3690788" y="5730140"/>
            <a:ext cx="1905034" cy="347427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300988" y="4923749"/>
            <a:ext cx="1039631" cy="674452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1254" y="4673453"/>
            <a:ext cx="1089365" cy="92474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771111" y="1908969"/>
            <a:ext cx="1270683" cy="1340144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7771111" y="3249113"/>
            <a:ext cx="529877" cy="167463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7771111" y="3249113"/>
            <a:ext cx="480142" cy="142434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8727851" y="1220405"/>
            <a:ext cx="313943" cy="68856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2492569" y="2594181"/>
            <a:ext cx="194664" cy="846255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H="1" flipV="1">
            <a:off x="942872" y="2125574"/>
            <a:ext cx="1744361" cy="46860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H="1" flipV="1">
            <a:off x="4343177" y="5665817"/>
            <a:ext cx="1829337" cy="39305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H="1" flipV="1">
            <a:off x="5595821" y="5730140"/>
            <a:ext cx="576692" cy="32873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H="1" flipV="1">
            <a:off x="4149973" y="452173"/>
            <a:ext cx="840901" cy="766998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H="1" flipV="1">
            <a:off x="8251254" y="4673453"/>
            <a:ext cx="49735" cy="250296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 flipH="1" flipV="1">
            <a:off x="7029158" y="248385"/>
            <a:ext cx="1698692" cy="972020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343177" y="5665817"/>
            <a:ext cx="1252645" cy="64323"/>
          </a:xfrm>
          <a:prstGeom prst="line">
            <a:avLst/>
          </a:prstGeom>
          <a:noFill/>
          <a:ln w="9525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58017" y="615684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573437" y="66803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729617" y="516283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323712" y="219991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712690" y="227793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480055" y="573557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1540880" y="351348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577817" y="306234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361485" y="3958808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078802" y="552555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1384176" y="530724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27749" y="211854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314357" y="3664121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7185609" y="444064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894207" y="2500777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139866" y="21518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12915" y="274854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0491657" y="53351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447648" y="4322757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342975" y="251694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73941" y="536074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291543" y="455682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45068" y="6031847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94899" y="5552481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725391" y="320339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8996074" y="186324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446849" y="3394716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41513" y="2548461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6126794" y="601315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945153" y="1173451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255268" y="4878029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1252586" y="193552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682131" y="117468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4297457" y="5620097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104253" y="40645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550101" y="5684420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983438" y="20266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97152" y="2079854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1764425" y="3272655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205534" y="4627733"/>
            <a:ext cx="91440" cy="91440"/>
          </a:xfrm>
          <a:prstGeom prst="ellipse">
            <a:avLst/>
          </a:prstGeom>
          <a:solidFill>
            <a:srgbClr val="14B8A6">
              <a:alpha val="70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  <p:pic>
        <p:nvPicPr>
          <p:cNvPr id="1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371600"/>
            <a:ext cx="731520" cy="731520"/>
          </a:xfrm>
          <a:prstGeom prst="rect">
            <a:avLst/>
          </a:prstGeom>
        </p:spPr>
      </p:pic>
      <p:sp>
        <p:nvSpPr>
          <p:cNvPr id="143" name="Text 140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6600" dirty="0"/>
          </a:p>
        </p:txBody>
      </p:sp>
      <p:sp>
        <p:nvSpPr>
          <p:cNvPr id="144" name="Text 141"/>
          <p:cNvSpPr txBox="1"/>
          <p:nvPr/>
        </p:nvSpPr>
        <p:spPr>
          <a:xfrm>
            <a:off x="457200" y="3703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6E8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TRAVELSYNC – Intelligent Travel Planning &amp; Information Platform</a:t>
            </a:r>
            <a:endParaRPr lang="en-US" sz="1800" dirty="0"/>
          </a:p>
        </p:txBody>
      </p:sp>
      <p:sp>
        <p:nvSpPr>
          <p:cNvPr id="145" name="Shape 142"/>
          <p:cNvSpPr/>
          <p:nvPr/>
        </p:nvSpPr>
        <p:spPr>
          <a:xfrm>
            <a:off x="4389120" y="4663440"/>
            <a:ext cx="3383280" cy="640080"/>
          </a:xfrm>
          <a:prstGeom prst="roundRect">
            <a:avLst>
              <a:gd name="adj" fmla="val 17143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  <a:effectLst>
            <a:outerShdw sx="100000" sy="100000" kx="0" ky="0" algn="bl" rotWithShape="0" blurRad="101600" dist="25400" dir="5400000">
              <a:srgbClr val="0B1F3A">
                <a:alpha val="14000"/>
              </a:srgbClr>
            </a:outerShdw>
          </a:effectLst>
        </p:spPr>
      </p:sp>
      <p:sp>
        <p:nvSpPr>
          <p:cNvPr id="146" name="Text 143"/>
          <p:cNvSpPr txBox="1"/>
          <p:nvPr/>
        </p:nvSpPr>
        <p:spPr>
          <a:xfrm>
            <a:off x="4389120" y="4663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TravelSync - DSA Review-1</dc:title>
  <dc:subject>PptxGenJS Presentation</dc:subject>
  <dc:creator>PptxGenJS</dc:creator>
  <cp:lastModifiedBy>PptxGenJS</cp:lastModifiedBy>
  <cp:revision>1</cp:revision>
  <dcterms:created xsi:type="dcterms:W3CDTF">2026-10-16T06:14:39Z</dcterms:created>
  <dcterms:modified xsi:type="dcterms:W3CDTF">2026-10-16T06:14:39Z</dcterms:modified>
</cp:coreProperties>
</file>
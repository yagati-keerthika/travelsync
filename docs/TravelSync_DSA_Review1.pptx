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3" r:id="rId19"/>
    <p:sldId id="271" r:id="rId20"/>
    <p:sldId id="272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8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0.png"/><Relationship Id="rId1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image" Target="../media/image21.png"/><Relationship Id="rId2" Type="http://schemas.openxmlformats.org/officeDocument/2006/relationships/image" Target="../media/image8.png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9.png"/><Relationship Id="rId7" Type="http://schemas.openxmlformats.org/officeDocument/2006/relationships/image" Target="../media/image28.png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0" Type="http://schemas.openxmlformats.org/officeDocument/2006/relationships/notesSlide" Target="../notesSlides/notesSlide13.xml"/><Relationship Id="rId1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5390106" y="3472774"/>
            <a:ext cx="574085" cy="373121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V="1">
            <a:off x="5964191" y="2817430"/>
            <a:ext cx="1204057" cy="1028465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5964191" y="3341599"/>
            <a:ext cx="851119" cy="504296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 flipV="1">
            <a:off x="5098580" y="3774046"/>
            <a:ext cx="865612" cy="71849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5964191" y="2265803"/>
            <a:ext cx="688777" cy="1580092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5964191" y="2755106"/>
            <a:ext cx="1368797" cy="1090789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 flipV="1">
            <a:off x="5329945" y="3400043"/>
            <a:ext cx="634247" cy="445852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5336930" y="3845895"/>
            <a:ext cx="627261" cy="1904059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 flipV="1">
            <a:off x="5481547" y="3012810"/>
            <a:ext cx="482645" cy="833085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404351" y="343400"/>
            <a:ext cx="738512" cy="1329796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04351" y="1673196"/>
            <a:ext cx="64332" cy="1373305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404351" y="1535318"/>
            <a:ext cx="249716" cy="137877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H="1">
            <a:off x="579507" y="1673196"/>
            <a:ext cx="824844" cy="1154113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5390106" y="2817430"/>
            <a:ext cx="1778143" cy="655344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5390106" y="1612165"/>
            <a:ext cx="673033" cy="1860609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5390106" y="3341599"/>
            <a:ext cx="1425204" cy="131175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H="1">
            <a:off x="5098580" y="3472774"/>
            <a:ext cx="291526" cy="301272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5390106" y="1595114"/>
            <a:ext cx="29716" cy="1877660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5390106" y="2265803"/>
            <a:ext cx="1262863" cy="1206970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H="1" flipV="1">
            <a:off x="4277177" y="2400682"/>
            <a:ext cx="1112929" cy="1072092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5390106" y="1618750"/>
            <a:ext cx="334379" cy="1854024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H="1" flipV="1">
            <a:off x="5329945" y="3400043"/>
            <a:ext cx="60161" cy="72731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5390106" y="3012810"/>
            <a:ext cx="91441" cy="459963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5384" y="6027297"/>
            <a:ext cx="1116787" cy="732073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955384" y="5300104"/>
            <a:ext cx="912531" cy="727193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5384" y="6027297"/>
            <a:ext cx="13137" cy="324908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55384" y="6027297"/>
            <a:ext cx="1946948" cy="36042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H="1" flipV="1">
            <a:off x="6063139" y="1612165"/>
            <a:ext cx="1105109" cy="1205265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7168248" y="1083410"/>
            <a:ext cx="1003868" cy="1734020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H="1">
            <a:off x="6815310" y="2817430"/>
            <a:ext cx="352938" cy="524169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7168248" y="1925902"/>
            <a:ext cx="1002721" cy="891528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H="1" flipV="1">
            <a:off x="6652969" y="2265803"/>
            <a:ext cx="515280" cy="551627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H="1" flipV="1">
            <a:off x="5724485" y="1618750"/>
            <a:ext cx="1443763" cy="1198680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7168248" y="2755106"/>
            <a:ext cx="164739" cy="62324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68248" y="2817430"/>
            <a:ext cx="1113033" cy="1618956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H="1">
            <a:off x="5329945" y="2817430"/>
            <a:ext cx="1838304" cy="582612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H="1">
            <a:off x="5481547" y="2817430"/>
            <a:ext cx="1686702" cy="195380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H="1">
            <a:off x="2072171" y="5357842"/>
            <a:ext cx="1387043" cy="1401527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H="1" flipV="1">
            <a:off x="1867915" y="5300104"/>
            <a:ext cx="1591299" cy="57738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H="1">
            <a:off x="2902333" y="5357842"/>
            <a:ext cx="556882" cy="705497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459214" y="5357842"/>
            <a:ext cx="1877716" cy="392113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995490" y="525198"/>
            <a:ext cx="176626" cy="558212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995490" y="525198"/>
            <a:ext cx="175479" cy="1400704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63139" y="1612165"/>
            <a:ext cx="752171" cy="1729434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H="1" flipV="1">
            <a:off x="5419821" y="1595114"/>
            <a:ext cx="643318" cy="17051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063139" y="1612165"/>
            <a:ext cx="589830" cy="653638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H="1">
            <a:off x="4277177" y="1612165"/>
            <a:ext cx="1785963" cy="788517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H="1">
            <a:off x="5724485" y="1612165"/>
            <a:ext cx="338654" cy="6585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063139" y="1612165"/>
            <a:ext cx="1269849" cy="1142941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H="1" flipV="1">
            <a:off x="5477167" y="618508"/>
            <a:ext cx="585972" cy="993657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H="1">
            <a:off x="5329945" y="1612165"/>
            <a:ext cx="733195" cy="1787878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H="1">
            <a:off x="5481547" y="1612165"/>
            <a:ext cx="581593" cy="1400645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H="1">
            <a:off x="8170969" y="1083410"/>
            <a:ext cx="1147" cy="842492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H="1">
            <a:off x="6652969" y="1083410"/>
            <a:ext cx="1519147" cy="1182394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H="1">
            <a:off x="7332988" y="1083410"/>
            <a:ext cx="839128" cy="1671696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H="1">
            <a:off x="5098580" y="3341599"/>
            <a:ext cx="1716730" cy="432447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flipV="1">
            <a:off x="6815310" y="1925902"/>
            <a:ext cx="1355659" cy="1415697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H="1" flipV="1">
            <a:off x="6652969" y="2265803"/>
            <a:ext cx="162341" cy="1075796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V="1">
            <a:off x="6815310" y="2755106"/>
            <a:ext cx="517678" cy="586493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815310" y="3341599"/>
            <a:ext cx="1465972" cy="1094787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flipH="1">
            <a:off x="5329945" y="3341599"/>
            <a:ext cx="1485365" cy="58444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H="1" flipV="1">
            <a:off x="5481547" y="3012810"/>
            <a:ext cx="1333763" cy="328789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H="1">
            <a:off x="1654067" y="343400"/>
            <a:ext cx="488796" cy="1191919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flipV="1">
            <a:off x="1468683" y="1535318"/>
            <a:ext cx="185384" cy="1511182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flipH="1" flipV="1">
            <a:off x="579507" y="2827308"/>
            <a:ext cx="889176" cy="219193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H="1">
            <a:off x="11616420" y="1297134"/>
            <a:ext cx="6360" cy="931275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flipH="1" flipV="1">
            <a:off x="4277177" y="2400682"/>
            <a:ext cx="821403" cy="1373364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flipV="1">
            <a:off x="5098580" y="3400043"/>
            <a:ext cx="231365" cy="374003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098580" y="3774046"/>
            <a:ext cx="238351" cy="1975908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flipV="1">
            <a:off x="5098580" y="3012810"/>
            <a:ext cx="382967" cy="761236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flipH="1">
            <a:off x="6652969" y="1925902"/>
            <a:ext cx="1518000" cy="339901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flipH="1">
            <a:off x="7332988" y="1925902"/>
            <a:ext cx="837981" cy="829204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flipH="1" flipV="1">
            <a:off x="1867915" y="5300104"/>
            <a:ext cx="204256" cy="1459265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flipH="1" flipV="1">
            <a:off x="968522" y="6352205"/>
            <a:ext cx="1103650" cy="407164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V="1">
            <a:off x="2072171" y="6063339"/>
            <a:ext cx="830161" cy="696031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419821" y="1595114"/>
            <a:ext cx="1233147" cy="670689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flipH="1">
            <a:off x="4277177" y="1595114"/>
            <a:ext cx="1142645" cy="805568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419821" y="1595114"/>
            <a:ext cx="304664" cy="23636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flipV="1">
            <a:off x="5419821" y="618508"/>
            <a:ext cx="57346" cy="976606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flipH="1">
            <a:off x="5329945" y="1595114"/>
            <a:ext cx="89877" cy="1804929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419821" y="1595114"/>
            <a:ext cx="61725" cy="1417696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 flipH="1" flipV="1">
            <a:off x="5724485" y="1618750"/>
            <a:ext cx="928484" cy="647053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652969" y="2265803"/>
            <a:ext cx="680019" cy="489303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 flipH="1">
            <a:off x="5329945" y="2265803"/>
            <a:ext cx="1323024" cy="1134239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 flipH="1">
            <a:off x="5481547" y="2265803"/>
            <a:ext cx="1171422" cy="747007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flipH="1">
            <a:off x="968522" y="5300104"/>
            <a:ext cx="899394" cy="1052101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867915" y="5300104"/>
            <a:ext cx="1034417" cy="763235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 flipV="1">
            <a:off x="4277177" y="1618750"/>
            <a:ext cx="1447308" cy="781932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277177" y="2400682"/>
            <a:ext cx="1052768" cy="999361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277177" y="2400682"/>
            <a:ext cx="1204370" cy="612128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 flipV="1">
            <a:off x="968522" y="6063339"/>
            <a:ext cx="1933811" cy="288866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724485" y="1618750"/>
            <a:ext cx="1608503" cy="1136356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 flipH="1" flipV="1">
            <a:off x="5477167" y="618508"/>
            <a:ext cx="247318" cy="1000243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flipH="1">
            <a:off x="5329945" y="1618750"/>
            <a:ext cx="394540" cy="1781293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 flipH="1">
            <a:off x="5481547" y="1618750"/>
            <a:ext cx="242938" cy="1394060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332988" y="2755106"/>
            <a:ext cx="948294" cy="1681280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 flipH="1">
            <a:off x="5481547" y="2755106"/>
            <a:ext cx="1851441" cy="257704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 flipH="1" flipV="1">
            <a:off x="8281282" y="4436386"/>
            <a:ext cx="947981" cy="40687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 flipH="1">
            <a:off x="579507" y="1535318"/>
            <a:ext cx="1074560" cy="1291990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 flipV="1">
            <a:off x="5329945" y="3012810"/>
            <a:ext cx="151602" cy="387232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918471" y="3800175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358631" y="1627476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344386" y="3427054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09664" y="5981577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122528" y="2771710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413494" y="5312122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949770" y="479478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017419" y="1566445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126396" y="1037690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6769590" y="3295879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2097143" y="297680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1375411" y="6605758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422963" y="3000781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1577061" y="1251414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5052860" y="3728326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8125249" y="1880182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2026451" y="6713649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374101" y="1549394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6607249" y="2220083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822195" y="5254384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231457" y="2354962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922802" y="6306485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2856613" y="6017619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678765" y="1573030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7287268" y="2709386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9183543" y="4431353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608347" y="1489598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5431447" y="572788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533787" y="2781588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8235562" y="4390666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1570700" y="2182689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5284225" y="3354323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291210" y="5704234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435827" y="2967090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7799832" y="2478024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7799832" y="2724912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7799832" y="2971800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7799832" y="3218688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7799832" y="3465576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7799832" y="3712464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7799832" y="3959352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7799832" y="4206240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8046720" y="2231136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8046720" y="2478024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8046720" y="2724912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8046720" y="2971800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8046720" y="3218688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8046720" y="3465576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8046720" y="3712464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8046720" y="3959352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8046720" y="4206240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8046720" y="4453128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8293608" y="1984248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8293608" y="2231136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8293608" y="2478024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8293608" y="2724912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8293608" y="2971800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8293608" y="3218688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8293608" y="3465576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8293608" y="3712464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8293608" y="3959352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8293608" y="4206240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8293608" y="4453128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8293608" y="4700016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8540496" y="1737360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8540496" y="1984248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8540496" y="2231136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8540496" y="2478024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8540496" y="2724912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8540496" y="2971800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8540496" y="3218688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8540496" y="3465576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8540496" y="3712464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8540496" y="3959352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8540496" y="4206240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8540496" y="4453128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8540496" y="4700016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8540496" y="4946904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8787384" y="1490472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8787384" y="1737360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8787384" y="1984248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8787384" y="2231136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8787384" y="2478024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8787384" y="2724912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8787384" y="2971800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8787384" y="3218688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8787384" y="3465576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8787384" y="3712464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8787384" y="3959352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8787384" y="4206240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8787384" y="4453128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8787384" y="4700016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8787384" y="4946904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8787384" y="5193792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9034272" y="1490472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9034272" y="1737360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9034272" y="1984248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9034272" y="2231136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9034272" y="2478024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9034272" y="2724912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9034272" y="2971800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9034272" y="3218688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9034272" y="3465576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9034272" y="3712464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9034272" y="3959352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9034272" y="4206240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9034272" y="4453128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9034272" y="4700016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9034272" y="4946904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9034272" y="5193792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9281160" y="1490472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9281160" y="1737360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9281160" y="1984248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9281160" y="2231136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9281160" y="2478024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9281160" y="2724912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9281160" y="2971800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9281160" y="3218688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9281160" y="3465576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9281160" y="3712464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9281160" y="3959352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9281160" y="4206240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9281160" y="4453128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9281160" y="4700016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9281160" y="4946904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9281160" y="5193792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9528048" y="1490472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9528048" y="1737360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9528048" y="1984248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9528048" y="2231136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9528048" y="2478024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9528048" y="2724912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9528048" y="2971800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9528048" y="3218688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9528048" y="3465576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9528048" y="3712464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9528048" y="3959352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9528048" y="4206240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9528048" y="4453128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9528048" y="4700016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9528048" y="4946904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9528048" y="5193792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9774936" y="1490472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9774936" y="1737360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9774936" y="1984248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9774936" y="2231136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9774936" y="2478024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9774936" y="2724912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9774936" y="2971800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9774936" y="3218688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9774936" y="3465576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9774936" y="3712464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9774936" y="3959352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9774936" y="4206240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9774936" y="4453128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9774936" y="4700016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9774936" y="4946904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9774936" y="5193792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10021824" y="1490472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10021824" y="1737360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10021824" y="1984248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10021824" y="2231136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10021824" y="2478024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10021824" y="2724912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10021824" y="2971800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10021824" y="3218688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10021824" y="3465576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10021824" y="3712464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10021824" y="3959352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10021824" y="4206240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10021824" y="4453128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10021824" y="4700016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10021824" y="4946904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10021824" y="5193792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10268712" y="1490472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10268712" y="1737360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10268712" y="1984248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10268712" y="2231136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10268712" y="2478024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10268712" y="2724912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10268712" y="2971800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10268712" y="3218688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10268712" y="3465576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10268712" y="3712464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10268712" y="3959352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10268712" y="4206240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10268712" y="4453128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10268712" y="4700016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10268712" y="4946904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10268712" y="5193792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10515600" y="1490472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10515600" y="1737360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10515600" y="1984248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10515600" y="2231136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10515600" y="2478024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10515600" y="2724912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10515600" y="2971800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10515600" y="3218688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10515600" y="3465576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10515600" y="3712464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10515600" y="3959352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10515600" y="4206240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10515600" y="4453128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10515600" y="4700016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10515600" y="4946904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10515600" y="5193792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10762488" y="1737360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10762488" y="1984248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10762488" y="2231136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10762488" y="2478024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10762488" y="2724912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10762488" y="2971800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10762488" y="3218688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10762488" y="3465576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10762488" y="3712464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10762488" y="3959352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10762488" y="4206240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10762488" y="4453128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10762488" y="4700016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10762488" y="4946904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11009376" y="1984248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11009376" y="2231136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11009376" y="2478024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11009376" y="2724912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11009376" y="2971800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>
            <a:off x="11009376" y="3218688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11009376" y="3465576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11009376" y="3712464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11009376" y="3959352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>
            <a:off x="11009376" y="4206240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11009376" y="4453128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11009376" y="4700016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11256264" y="2231136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11256264" y="2478024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>
            <a:off x="11256264" y="2724912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337" name="Shape 335"/>
          <p:cNvSpPr/>
          <p:nvPr/>
        </p:nvSpPr>
        <p:spPr>
          <a:xfrm>
            <a:off x="11256264" y="2971800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11256264" y="3218688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11256264" y="3465576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340" name="Shape 338"/>
          <p:cNvSpPr/>
          <p:nvPr/>
        </p:nvSpPr>
        <p:spPr>
          <a:xfrm>
            <a:off x="11256264" y="3712464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341" name="Shape 339"/>
          <p:cNvSpPr/>
          <p:nvPr/>
        </p:nvSpPr>
        <p:spPr>
          <a:xfrm>
            <a:off x="11256264" y="3959352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342" name="Shape 340"/>
          <p:cNvSpPr/>
          <p:nvPr/>
        </p:nvSpPr>
        <p:spPr>
          <a:xfrm>
            <a:off x="11256264" y="4206240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343" name="Shape 341"/>
          <p:cNvSpPr/>
          <p:nvPr/>
        </p:nvSpPr>
        <p:spPr>
          <a:xfrm>
            <a:off x="11256264" y="4453128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344" name="Shape 342"/>
          <p:cNvSpPr/>
          <p:nvPr/>
        </p:nvSpPr>
        <p:spPr>
          <a:xfrm>
            <a:off x="11503152" y="2478024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345" name="Shape 343"/>
          <p:cNvSpPr/>
          <p:nvPr/>
        </p:nvSpPr>
        <p:spPr>
          <a:xfrm>
            <a:off x="11503152" y="2724912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11503152" y="2971800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347" name="Shape 345"/>
          <p:cNvSpPr/>
          <p:nvPr/>
        </p:nvSpPr>
        <p:spPr>
          <a:xfrm>
            <a:off x="11503152" y="3218688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348" name="Shape 346"/>
          <p:cNvSpPr/>
          <p:nvPr/>
        </p:nvSpPr>
        <p:spPr>
          <a:xfrm>
            <a:off x="11503152" y="3465576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349" name="Shape 347"/>
          <p:cNvSpPr/>
          <p:nvPr/>
        </p:nvSpPr>
        <p:spPr>
          <a:xfrm>
            <a:off x="11503152" y="3712464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>
            <a:off x="11503152" y="3959352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351" name="Shape 349"/>
          <p:cNvSpPr/>
          <p:nvPr/>
        </p:nvSpPr>
        <p:spPr>
          <a:xfrm>
            <a:off x="11503152" y="4206240"/>
            <a:ext cx="73152" cy="73152"/>
          </a:xfrm>
          <a:prstGeom prst="ellipse">
            <a:avLst/>
          </a:prstGeom>
          <a:solidFill>
            <a:srgbClr val="1D6FB8">
              <a:alpha val="90000"/>
            </a:srgbClr>
          </a:solidFill>
          <a:ln w="12700">
            <a:solidFill>
              <a:srgbClr val="1D6FB8">
                <a:alpha val="0"/>
              </a:srgbClr>
            </a:solidFill>
            <a:prstDash val="solid"/>
          </a:ln>
        </p:spPr>
      </p:sp>
      <p:sp>
        <p:nvSpPr>
          <p:cNvPr id="352" name="Shape 350"/>
          <p:cNvSpPr/>
          <p:nvPr/>
        </p:nvSpPr>
        <p:spPr>
          <a:xfrm>
            <a:off x="9052560" y="2743200"/>
            <a:ext cx="1188720" cy="822960"/>
          </a:xfrm>
          <a:prstGeom prst="line">
            <a:avLst/>
          </a:prstGeom>
          <a:noFill/>
          <a:ln w="28575">
            <a:solidFill>
              <a:srgbClr val="F28C28"/>
            </a:solidFill>
            <a:prstDash val="solid"/>
            <a:tailEnd type="triangle"/>
          </a:ln>
        </p:spPr>
      </p:sp>
      <p:sp>
        <p:nvSpPr>
          <p:cNvPr id="353" name="Shape 351"/>
          <p:cNvSpPr/>
          <p:nvPr/>
        </p:nvSpPr>
        <p:spPr>
          <a:xfrm flipH="1">
            <a:off x="9418320" y="3566160"/>
            <a:ext cx="822960" cy="640080"/>
          </a:xfrm>
          <a:prstGeom prst="line">
            <a:avLst/>
          </a:prstGeom>
          <a:noFill/>
          <a:ln w="28575">
            <a:solidFill>
              <a:srgbClr val="F28C28"/>
            </a:solidFill>
            <a:prstDash val="solid"/>
            <a:tailEnd type="triangle"/>
          </a:ln>
        </p:spPr>
      </p:sp>
      <p:sp>
        <p:nvSpPr>
          <p:cNvPr id="354" name="Shape 352"/>
          <p:cNvSpPr/>
          <p:nvPr/>
        </p:nvSpPr>
        <p:spPr>
          <a:xfrm flipH="1" flipV="1">
            <a:off x="8503920" y="3749040"/>
            <a:ext cx="914400" cy="457200"/>
          </a:xfrm>
          <a:prstGeom prst="line">
            <a:avLst/>
          </a:prstGeom>
          <a:noFill/>
          <a:ln w="28575">
            <a:solidFill>
              <a:srgbClr val="F28C28"/>
            </a:solidFill>
            <a:prstDash val="solid"/>
            <a:tailEnd type="triangle"/>
          </a:ln>
        </p:spPr>
      </p:sp>
      <p:sp>
        <p:nvSpPr>
          <p:cNvPr id="355" name="Shape 353"/>
          <p:cNvSpPr/>
          <p:nvPr/>
        </p:nvSpPr>
        <p:spPr>
          <a:xfrm>
            <a:off x="8951976" y="2642616"/>
            <a:ext cx="201168" cy="2011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356" name="Shape 354"/>
          <p:cNvSpPr/>
          <p:nvPr/>
        </p:nvSpPr>
        <p:spPr>
          <a:xfrm>
            <a:off x="10140696" y="3465576"/>
            <a:ext cx="201168" cy="2011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357" name="Shape 355"/>
          <p:cNvSpPr/>
          <p:nvPr/>
        </p:nvSpPr>
        <p:spPr>
          <a:xfrm>
            <a:off x="9317736" y="4105656"/>
            <a:ext cx="201168" cy="2011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358" name="Shape 356"/>
          <p:cNvSpPr/>
          <p:nvPr/>
        </p:nvSpPr>
        <p:spPr>
          <a:xfrm>
            <a:off x="8403336" y="3648456"/>
            <a:ext cx="201168" cy="2011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pic>
        <p:nvPicPr>
          <p:cNvPr id="35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822960"/>
            <a:ext cx="457200" cy="457200"/>
          </a:xfrm>
          <a:prstGeom prst="rect">
            <a:avLst/>
          </a:prstGeom>
        </p:spPr>
      </p:pic>
      <p:sp>
        <p:nvSpPr>
          <p:cNvPr id="360" name="Text 357"/>
          <p:cNvSpPr txBox="1"/>
          <p:nvPr/>
        </p:nvSpPr>
        <p:spPr>
          <a:xfrm>
            <a:off x="640080" y="1280160"/>
            <a:ext cx="768096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TRAVELSYNC</a:t>
            </a:r>
            <a:endParaRPr lang="en-US" sz="7200" dirty="0"/>
          </a:p>
        </p:txBody>
      </p:sp>
      <p:sp>
        <p:nvSpPr>
          <p:cNvPr id="361" name="Text 358"/>
          <p:cNvSpPr txBox="1"/>
          <p:nvPr/>
        </p:nvSpPr>
        <p:spPr>
          <a:xfrm>
            <a:off x="640080" y="2606040"/>
            <a:ext cx="713232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D6E8F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Intelligent Travel Planning &amp; Information Platform</a:t>
            </a:r>
            <a:endParaRPr lang="en-US" sz="2200" dirty="0"/>
          </a:p>
        </p:txBody>
      </p:sp>
      <p:sp>
        <p:nvSpPr>
          <p:cNvPr id="362" name="Shape 359"/>
          <p:cNvSpPr/>
          <p:nvPr/>
        </p:nvSpPr>
        <p:spPr>
          <a:xfrm>
            <a:off x="640080" y="3520440"/>
            <a:ext cx="1554480" cy="411480"/>
          </a:xfrm>
          <a:prstGeom prst="roundRect">
            <a:avLst>
              <a:gd name="adj" fmla="val 26667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363" name="Text 360"/>
          <p:cNvSpPr txBox="1"/>
          <p:nvPr/>
        </p:nvSpPr>
        <p:spPr>
          <a:xfrm>
            <a:off x="640080" y="352044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DSA Project</a:t>
            </a:r>
            <a:endParaRPr lang="en-US" sz="1200" dirty="0"/>
          </a:p>
        </p:txBody>
      </p:sp>
      <p:sp>
        <p:nvSpPr>
          <p:cNvPr id="364" name="Shape 361"/>
          <p:cNvSpPr/>
          <p:nvPr/>
        </p:nvSpPr>
        <p:spPr>
          <a:xfrm>
            <a:off x="2377440" y="3520440"/>
            <a:ext cx="914400" cy="411480"/>
          </a:xfrm>
          <a:prstGeom prst="roundRect">
            <a:avLst>
              <a:gd name="adj" fmla="val 26667"/>
            </a:avLst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365" name="Text 362"/>
          <p:cNvSpPr txBox="1"/>
          <p:nvPr/>
        </p:nvSpPr>
        <p:spPr>
          <a:xfrm>
            <a:off x="2377440" y="352044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Java</a:t>
            </a:r>
            <a:endParaRPr lang="en-US" sz="1200" dirty="0"/>
          </a:p>
        </p:txBody>
      </p:sp>
      <p:sp>
        <p:nvSpPr>
          <p:cNvPr id="366" name="Shape 363"/>
          <p:cNvSpPr/>
          <p:nvPr/>
        </p:nvSpPr>
        <p:spPr>
          <a:xfrm>
            <a:off x="3474720" y="3520440"/>
            <a:ext cx="1280160" cy="411480"/>
          </a:xfrm>
          <a:prstGeom prst="roundRect">
            <a:avLst>
              <a:gd name="adj" fmla="val 26667"/>
            </a:avLst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367" name="Text 364"/>
          <p:cNvSpPr txBox="1"/>
          <p:nvPr/>
        </p:nvSpPr>
        <p:spPr>
          <a:xfrm>
            <a:off x="3474720" y="3520440"/>
            <a:ext cx="12801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Review-1</a:t>
            </a:r>
            <a:endParaRPr lang="en-US" sz="1200" dirty="0"/>
          </a:p>
        </p:txBody>
      </p:sp>
      <p:sp>
        <p:nvSpPr>
          <p:cNvPr id="368" name="Shape 365"/>
          <p:cNvSpPr/>
          <p:nvPr/>
        </p:nvSpPr>
        <p:spPr>
          <a:xfrm>
            <a:off x="4937760" y="3520440"/>
            <a:ext cx="1280160" cy="411480"/>
          </a:xfrm>
          <a:prstGeom prst="roundRect">
            <a:avLst>
              <a:gd name="adj" fmla="val 26667"/>
            </a:avLst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369" name="Text 366"/>
          <p:cNvSpPr txBox="1"/>
          <p:nvPr/>
        </p:nvSpPr>
        <p:spPr>
          <a:xfrm>
            <a:off x="4937760" y="3520440"/>
            <a:ext cx="12801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CO1–CO3</a:t>
            </a:r>
            <a:endParaRPr lang="en-US" sz="1200" dirty="0"/>
          </a:p>
        </p:txBody>
      </p:sp>
      <p:sp>
        <p:nvSpPr>
          <p:cNvPr id="370" name="Shape 367"/>
          <p:cNvSpPr/>
          <p:nvPr/>
        </p:nvSpPr>
        <p:spPr>
          <a:xfrm>
            <a:off x="640080" y="4251960"/>
            <a:ext cx="6949440" cy="18288"/>
          </a:xfrm>
          <a:prstGeom prst="rect">
            <a:avLst/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sp>
        <p:nvSpPr>
          <p:cNvPr id="371" name="Text 368"/>
          <p:cNvSpPr txBox="1"/>
          <p:nvPr/>
        </p:nvSpPr>
        <p:spPr>
          <a:xfrm>
            <a:off x="640080" y="438912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28C2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372" name="Text 369"/>
          <p:cNvSpPr txBox="1"/>
          <p:nvPr/>
        </p:nvSpPr>
        <p:spPr>
          <a:xfrm>
            <a:off x="640080" y="4709160"/>
            <a:ext cx="329184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1. Y. Keerthika</a:t>
            </a:r>
            <a:endParaRPr lang="en-US" sz="15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2. N. Jyothirmayee</a:t>
            </a:r>
            <a:endParaRPr lang="en-US" sz="15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3. M. Mallika</a:t>
            </a:r>
            <a:endParaRPr lang="en-US" sz="1500" dirty="0"/>
          </a:p>
        </p:txBody>
      </p:sp>
      <p:sp>
        <p:nvSpPr>
          <p:cNvPr id="373" name="Text 370"/>
          <p:cNvSpPr txBox="1"/>
          <p:nvPr/>
        </p:nvSpPr>
        <p:spPr>
          <a:xfrm>
            <a:off x="4206240" y="438912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28C2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GUIDE</a:t>
            </a:r>
            <a:endParaRPr lang="en-US" sz="1100" dirty="0"/>
          </a:p>
        </p:txBody>
      </p:sp>
      <p:sp>
        <p:nvSpPr>
          <p:cNvPr id="374" name="Text 371"/>
          <p:cNvSpPr txBox="1"/>
          <p:nvPr/>
        </p:nvSpPr>
        <p:spPr>
          <a:xfrm>
            <a:off x="4206240" y="470916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M. Syamala Mam</a:t>
            </a:r>
            <a:endParaRPr lang="en-US" sz="1500" dirty="0"/>
          </a:p>
        </p:txBody>
      </p:sp>
      <p:sp>
        <p:nvSpPr>
          <p:cNvPr id="375" name="Text 372"/>
          <p:cNvSpPr txBox="1"/>
          <p:nvPr/>
        </p:nvSpPr>
        <p:spPr>
          <a:xfrm>
            <a:off x="4206240" y="534924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28C2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SUBJECT CODE</a:t>
            </a:r>
            <a:endParaRPr lang="en-US" sz="1100" dirty="0"/>
          </a:p>
        </p:txBody>
      </p:sp>
      <p:sp>
        <p:nvSpPr>
          <p:cNvPr id="376" name="Text 373"/>
          <p:cNvSpPr txBox="1"/>
          <p:nvPr/>
        </p:nvSpPr>
        <p:spPr>
          <a:xfrm>
            <a:off x="4206240" y="566928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25CS2103E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978408"/>
            <a:ext cx="822960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TRAVELSYNC  |  DSA Review-1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4652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5394960" cy="315468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1508760"/>
            <a:ext cx="4846320" cy="2788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Travel information is spread across many sources. Users misspell destination names, struggle to compare descriptions, arrange multi-stop routes and look for places that fit their preferences.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TravelSync applies string matching, sequence alignment and dynamic programming to these tasks inside a web application.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325880"/>
            <a:ext cx="5303520" cy="5486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1399032"/>
            <a:ext cx="402336" cy="402336"/>
          </a:xfrm>
          <a:prstGeom prst="ellipse">
            <a:avLst/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490472"/>
            <a:ext cx="219456" cy="2194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7040880" y="1325880"/>
            <a:ext cx="4480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Finding travel information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309360" y="1965960"/>
            <a:ext cx="5303520" cy="5486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46520" y="2039112"/>
            <a:ext cx="402336" cy="402336"/>
          </a:xfrm>
          <a:prstGeom prst="ellipse">
            <a:avLst/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130552"/>
            <a:ext cx="219456" cy="219456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040880" y="1965960"/>
            <a:ext cx="4480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Misspelled destination queries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309360" y="2606040"/>
            <a:ext cx="5303520" cy="5486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46520" y="2679192"/>
            <a:ext cx="402336" cy="402336"/>
          </a:xfrm>
          <a:prstGeom prst="ellipse">
            <a:avLst/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2770632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040880" y="2606040"/>
            <a:ext cx="4480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Comparing descriptions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309360" y="3246120"/>
            <a:ext cx="5303520" cy="5486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46520" y="3319272"/>
            <a:ext cx="402336" cy="402336"/>
          </a:xfrm>
          <a:prstGeom prst="ellipse">
            <a:avLst/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341071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040880" y="3246120"/>
            <a:ext cx="4480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Arranging multi-stop routes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6309360" y="3886200"/>
            <a:ext cx="5303520" cy="5486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446520" y="3959352"/>
            <a:ext cx="402336" cy="402336"/>
          </a:xfrm>
          <a:prstGeom prst="ellipse">
            <a:avLst/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4050792"/>
            <a:ext cx="219456" cy="219456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040880" y="3886200"/>
            <a:ext cx="4480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Matching user preferences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548640" y="5029200"/>
            <a:ext cx="3200400" cy="822960"/>
          </a:xfrm>
          <a:prstGeom prst="roundRect">
            <a:avLst>
              <a:gd name="adj" fmla="val 13333"/>
            </a:avLst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30" name="Text 23"/>
          <p:cNvSpPr txBox="1"/>
          <p:nvPr/>
        </p:nvSpPr>
        <p:spPr>
          <a:xfrm>
            <a:off x="548640" y="502920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Travel Data</a:t>
            </a:r>
            <a:endParaRPr lang="en-US" sz="1400" dirty="0"/>
          </a:p>
        </p:txBody>
      </p:sp>
      <p:sp>
        <p:nvSpPr>
          <p:cNvPr id="31" name="Shape 24"/>
          <p:cNvSpPr/>
          <p:nvPr/>
        </p:nvSpPr>
        <p:spPr>
          <a:xfrm>
            <a:off x="3840480" y="5303520"/>
            <a:ext cx="548640" cy="274320"/>
          </a:xfrm>
          <a:prstGeom prst="rightArrow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480560" y="5029200"/>
            <a:ext cx="3200400" cy="822960"/>
          </a:xfrm>
          <a:prstGeom prst="roundRect">
            <a:avLst>
              <a:gd name="adj" fmla="val 13333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33" name="Text 26"/>
          <p:cNvSpPr txBox="1"/>
          <p:nvPr/>
        </p:nvSpPr>
        <p:spPr>
          <a:xfrm>
            <a:off x="4480560" y="502920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Search, Comparison &amp; Planning Problems</a:t>
            </a:r>
            <a:endParaRPr lang="en-US" sz="1400" dirty="0"/>
          </a:p>
        </p:txBody>
      </p:sp>
      <p:sp>
        <p:nvSpPr>
          <p:cNvPr id="34" name="Shape 27"/>
          <p:cNvSpPr/>
          <p:nvPr/>
        </p:nvSpPr>
        <p:spPr>
          <a:xfrm>
            <a:off x="7772400" y="5303520"/>
            <a:ext cx="548640" cy="274320"/>
          </a:xfrm>
          <a:prstGeom prst="rightArrow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8412480" y="5029200"/>
            <a:ext cx="3200400" cy="82296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36" name="Text 29"/>
          <p:cNvSpPr txBox="1"/>
          <p:nvPr/>
        </p:nvSpPr>
        <p:spPr>
          <a:xfrm>
            <a:off x="8412480" y="502920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DSA-Based Solutions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Why TravelSync?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978408"/>
            <a:ext cx="822960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TRAVELSYNC  |  DSA Review-1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4652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600200"/>
            <a:ext cx="640080" cy="640080"/>
          </a:xfrm>
          <a:prstGeom prst="ellipse">
            <a:avLst/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1746504"/>
            <a:ext cx="347472" cy="34747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22960" y="237744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Destination Discovery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788920"/>
            <a:ext cx="30175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Explore and search destinations with live travel information.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297680" y="137160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0" y="1600200"/>
            <a:ext cx="640080" cy="6400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4" y="1746504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572000" y="237744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Typo Suggestions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0" y="2788920"/>
            <a:ext cx="30175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Suggest destinations when a query is misspelled.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046720" y="137160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321040" y="1600200"/>
            <a:ext cx="640080" cy="640080"/>
          </a:xfrm>
          <a:prstGeom prst="ellipse">
            <a:avLst/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4" y="1746504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321040" y="237744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Description Comparison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8321040" y="2788920"/>
            <a:ext cx="30175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Find shared and similar text between descriptions.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48640" y="384048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22960" y="4069080"/>
            <a:ext cx="640080" cy="6400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4215384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22960" y="484632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Itinerary Optimization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822960" y="5257800"/>
            <a:ext cx="30175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Order multi-stop routes with Bitmask DP.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4297680" y="384048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572000" y="4069080"/>
            <a:ext cx="640080" cy="640080"/>
          </a:xfrm>
          <a:prstGeom prst="ellipse">
            <a:avLst/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8304" y="4215384"/>
            <a:ext cx="347472" cy="347472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4572000" y="484632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Activity Planning</a:t>
            </a:r>
            <a:endParaRPr lang="en-US" sz="1400" dirty="0"/>
          </a:p>
        </p:txBody>
      </p:sp>
      <p:sp>
        <p:nvSpPr>
          <p:cNvPr id="31" name="Text 24"/>
          <p:cNvSpPr txBox="1"/>
          <p:nvPr/>
        </p:nvSpPr>
        <p:spPr>
          <a:xfrm>
            <a:off x="4572000" y="5257800"/>
            <a:ext cx="30175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Choose non-overlapping activities with Interval DP.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8046720" y="384048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8321040" y="4069080"/>
            <a:ext cx="640080" cy="6400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7344" y="4215384"/>
            <a:ext cx="347472" cy="347472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8321040" y="484632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Personalized Recommendations</a:t>
            </a:r>
            <a:endParaRPr lang="en-US" sz="1400" dirty="0"/>
          </a:p>
        </p:txBody>
      </p:sp>
      <p:sp>
        <p:nvSpPr>
          <p:cNvPr id="36" name="Text 28"/>
          <p:cNvSpPr txBox="1"/>
          <p:nvPr/>
        </p:nvSpPr>
        <p:spPr>
          <a:xfrm>
            <a:off x="8321040" y="5257800"/>
            <a:ext cx="30175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Rank destinations by preference with SOS DP.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978408"/>
            <a:ext cx="822960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TRAVELSYNC  |  DSA Review-1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4652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3566160" cy="21945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16916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28C2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200400" y="1645920"/>
            <a:ext cx="640080" cy="640080"/>
          </a:xfrm>
          <a:prstGeom prst="ellipse">
            <a:avLst/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6704" y="1792224"/>
            <a:ext cx="347472" cy="34747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22960" y="2377440"/>
            <a:ext cx="301752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Build a modular web application (React + Spring Boot)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297680" y="1463040"/>
            <a:ext cx="3566160" cy="21945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4572000" y="16916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28C2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6949440" y="1645920"/>
            <a:ext cx="640080" cy="6400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5744" y="1792224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572000" y="2377440"/>
            <a:ext cx="301752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Apply string-search and matching algorithms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046720" y="1463040"/>
            <a:ext cx="3566160" cy="21945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8321040" y="16916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28C2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10698480" y="1645920"/>
            <a:ext cx="640080" cy="640080"/>
          </a:xfrm>
          <a:prstGeom prst="ellipse">
            <a:avLst/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4784" y="1792224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321040" y="2377440"/>
            <a:ext cx="301752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Compare travel descriptions using text algorithms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548640" y="3886200"/>
            <a:ext cx="3566160" cy="21945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23" name="Text 18"/>
          <p:cNvSpPr txBox="1"/>
          <p:nvPr/>
        </p:nvSpPr>
        <p:spPr>
          <a:xfrm>
            <a:off x="822960" y="411480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28C2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Shape 19"/>
          <p:cNvSpPr/>
          <p:nvPr/>
        </p:nvSpPr>
        <p:spPr>
          <a:xfrm>
            <a:off x="3200400" y="4069080"/>
            <a:ext cx="640080" cy="6400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6704" y="4215384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822960" y="4800600"/>
            <a:ext cx="301752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Optimize travel plans with dynamic programming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4297680" y="3886200"/>
            <a:ext cx="3566160" cy="21945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28" name="Text 22"/>
          <p:cNvSpPr txBox="1"/>
          <p:nvPr/>
        </p:nvSpPr>
        <p:spPr>
          <a:xfrm>
            <a:off x="4572000" y="411480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28C2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05</a:t>
            </a:r>
            <a:endParaRPr lang="en-US" sz="2000" dirty="0"/>
          </a:p>
        </p:txBody>
      </p:sp>
      <p:sp>
        <p:nvSpPr>
          <p:cNvPr id="29" name="Shape 23"/>
          <p:cNvSpPr/>
          <p:nvPr/>
        </p:nvSpPr>
        <p:spPr>
          <a:xfrm>
            <a:off x="6949440" y="4069080"/>
            <a:ext cx="640080" cy="640080"/>
          </a:xfrm>
          <a:prstGeom prst="ellipse">
            <a:avLst/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5744" y="4215384"/>
            <a:ext cx="347472" cy="347472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4572000" y="4800600"/>
            <a:ext cx="301752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Integrate external travel-information and routing services</a:t>
            </a:r>
            <a:endParaRPr lang="en-US" sz="1400" dirty="0"/>
          </a:p>
        </p:txBody>
      </p:sp>
      <p:sp>
        <p:nvSpPr>
          <p:cNvPr id="32" name="Shape 25"/>
          <p:cNvSpPr/>
          <p:nvPr/>
        </p:nvSpPr>
        <p:spPr>
          <a:xfrm>
            <a:off x="8046720" y="3886200"/>
            <a:ext cx="3566160" cy="21945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33" name="Text 26"/>
          <p:cNvSpPr txBox="1"/>
          <p:nvPr/>
        </p:nvSpPr>
        <p:spPr>
          <a:xfrm>
            <a:off x="8321040" y="411480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28C2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06</a:t>
            </a:r>
            <a:endParaRPr lang="en-US" sz="2000" dirty="0"/>
          </a:p>
        </p:txBody>
      </p:sp>
      <p:sp>
        <p:nvSpPr>
          <p:cNvPr id="34" name="Shape 27"/>
          <p:cNvSpPr/>
          <p:nvPr/>
        </p:nvSpPr>
        <p:spPr>
          <a:xfrm>
            <a:off x="10698480" y="4069080"/>
            <a:ext cx="640080" cy="6400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44784" y="4215384"/>
            <a:ext cx="347472" cy="347472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8321040" y="4800600"/>
            <a:ext cx="301752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Test the algorithm implementations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System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978408"/>
            <a:ext cx="822960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TRAVELSYNC  |  DSA Review-1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4652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2286000" cy="1463040"/>
          </a:xfrm>
          <a:prstGeom prst="roundRect">
            <a:avLst>
              <a:gd name="adj" fmla="val 7500"/>
            </a:avLst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48640" y="228600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React + Vite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Pages &amp; API client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52928" y="2880360"/>
            <a:ext cx="411480" cy="274320"/>
          </a:xfrm>
          <a:prstGeom prst="rightArrow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2286000"/>
            <a:ext cx="2286000" cy="1463040"/>
          </a:xfrm>
          <a:prstGeom prst="roundRect">
            <a:avLst>
              <a:gd name="adj" fmla="val 7500"/>
            </a:avLst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291840" y="228600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Spring Boot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REST API · Java 21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596128" y="2880360"/>
            <a:ext cx="411480" cy="274320"/>
          </a:xfrm>
          <a:prstGeom prst="rightArrow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2286000"/>
            <a:ext cx="2194560" cy="1463040"/>
          </a:xfrm>
          <a:prstGeom prst="roundRect">
            <a:avLst>
              <a:gd name="adj" fmla="val 7500"/>
            </a:avLst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035040" y="2286000"/>
            <a:ext cx="219456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Controllers &amp; Services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request handling &amp; logic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 flipV="1">
            <a:off x="8229600" y="2240280"/>
            <a:ext cx="548640" cy="77724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229600" y="3017520"/>
            <a:ext cx="548640" cy="114300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778240" y="1371600"/>
            <a:ext cx="2834640" cy="1737360"/>
          </a:xfrm>
          <a:prstGeom prst="roundRect">
            <a:avLst>
              <a:gd name="adj" fmla="val 6316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778240" y="1371600"/>
            <a:ext cx="283464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DSA Engines</a:t>
            </a:r>
            <a:endParaRPr lang="en-US" sz="1200" b="1" dirty="0">
              <a:solidFill>
                <a:srgbClr val="FFFFFF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String · Text · DP · Max Flow</a:t>
            </a:r>
            <a:endParaRPr lang="en-US" sz="1200" b="1" dirty="0">
              <a:solidFill>
                <a:srgbClr val="FFFFFF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778240" y="3291840"/>
            <a:ext cx="2834640" cy="1737360"/>
          </a:xfrm>
          <a:prstGeom prst="roundRect">
            <a:avLst>
              <a:gd name="adj" fmla="val 6316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778240" y="3291840"/>
            <a:ext cx="283464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External API Clients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Open-Meteo · Wikipedia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OSRM routing · OpenStreetMap Overpass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1148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28C2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USER-FACING AREAS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480560"/>
            <a:ext cx="1188720" cy="594360"/>
          </a:xfrm>
          <a:prstGeom prst="roundRect">
            <a:avLst>
              <a:gd name="adj" fmla="val 18462"/>
            </a:avLst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548640" y="4480560"/>
            <a:ext cx="1188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Destination Search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828800" y="4480560"/>
            <a:ext cx="1188720" cy="594360"/>
          </a:xfrm>
          <a:prstGeom prst="roundRect">
            <a:avLst>
              <a:gd name="adj" fmla="val 18462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1828800" y="4480560"/>
            <a:ext cx="1188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Nearby Places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108960" y="4480560"/>
            <a:ext cx="1188720" cy="594360"/>
          </a:xfrm>
          <a:prstGeom prst="roundRect">
            <a:avLst>
              <a:gd name="adj" fmla="val 18462"/>
            </a:avLst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3108960" y="4480560"/>
            <a:ext cx="1188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Destination Comparison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389120" y="4480560"/>
            <a:ext cx="1188720" cy="594360"/>
          </a:xfrm>
          <a:prstGeom prst="roundRect">
            <a:avLst>
              <a:gd name="adj" fmla="val 18462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4389120" y="4480560"/>
            <a:ext cx="1188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Trip Planning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0" y="4480560"/>
            <a:ext cx="1188720" cy="594360"/>
          </a:xfrm>
          <a:prstGeom prst="roundRect">
            <a:avLst>
              <a:gd name="adj" fmla="val 18462"/>
            </a:avLst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5669280" y="4480560"/>
            <a:ext cx="1188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Recommendations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949440" y="4480560"/>
            <a:ext cx="1188720" cy="594360"/>
          </a:xfrm>
          <a:prstGeom prst="roundRect">
            <a:avLst>
              <a:gd name="adj" fmla="val 18462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6949440" y="4480560"/>
            <a:ext cx="1188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Algorithm Insights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303520"/>
            <a:ext cx="7680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A06B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Results are returned as JSON to the React frontend and displayed to the user.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 flipH="1">
            <a:off x="822960" y="5806440"/>
            <a:ext cx="10149840" cy="0"/>
          </a:xfrm>
          <a:prstGeom prst="line">
            <a:avLst/>
          </a:prstGeom>
          <a:noFill/>
          <a:ln w="31750">
            <a:solidFill>
              <a:srgbClr val="22A06B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System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978408"/>
            <a:ext cx="822960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TRAVELSYNC  |  DSA Review-1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4652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1097280" cy="100584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48640" y="3063240"/>
            <a:ext cx="10972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START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645920" y="3566160"/>
            <a:ext cx="274320" cy="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920240" y="3063240"/>
            <a:ext cx="1463040" cy="1005840"/>
          </a:xfrm>
          <a:prstGeom prst="roundRect">
            <a:avLst>
              <a:gd name="adj" fmla="val 10909"/>
            </a:avLst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1920240" y="3063240"/>
            <a:ext cx="14630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User selects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feature (React UI)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3566160"/>
            <a:ext cx="274320" cy="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657600" y="3063240"/>
            <a:ext cx="1463040" cy="1005840"/>
          </a:xfrm>
          <a:prstGeom prst="roundRect">
            <a:avLst>
              <a:gd name="adj" fmla="val 10909"/>
            </a:avLst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657600" y="3063240"/>
            <a:ext cx="14630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Frontend sends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REST API request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120640" y="3566160"/>
            <a:ext cx="274320" cy="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394960" y="2834640"/>
            <a:ext cx="1463040" cy="1463040"/>
          </a:xfrm>
          <a:prstGeom prst="diamond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394960" y="2834640"/>
            <a:ext cx="146304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Which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feature?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 flipV="1">
            <a:off x="6858000" y="1783080"/>
            <a:ext cx="457200" cy="178308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315200" y="1280160"/>
            <a:ext cx="2194560" cy="1005840"/>
          </a:xfrm>
          <a:prstGeom prst="roundRect">
            <a:avLst>
              <a:gd name="adj" fmla="val 10909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406640" y="1280160"/>
            <a:ext cx="20116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Search</a:t>
            </a:r>
            <a:endParaRPr lang="en-US" sz="1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String algorithms · Edit Distance typo suggestions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509760" y="1783080"/>
            <a:ext cx="365760" cy="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 flipV="1">
            <a:off x="6858000" y="2971800"/>
            <a:ext cx="457200" cy="59436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315200" y="2468880"/>
            <a:ext cx="2194560" cy="1005840"/>
          </a:xfrm>
          <a:prstGeom prst="roundRect">
            <a:avLst>
              <a:gd name="adj" fmla="val 10909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7406640" y="2468880"/>
            <a:ext cx="20116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Compare</a:t>
            </a:r>
            <a:endParaRPr lang="en-US" sz="1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Suffix Array + LCP · Needleman–Wunsch · Smith–Waterman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509760" y="2971800"/>
            <a:ext cx="365760" cy="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858000" y="3566160"/>
            <a:ext cx="457200" cy="59436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315200" y="3657600"/>
            <a:ext cx="2194560" cy="1005840"/>
          </a:xfrm>
          <a:prstGeom prst="roundRect">
            <a:avLst>
              <a:gd name="adj" fmla="val 10909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7406640" y="3657600"/>
            <a:ext cx="20116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Plan</a:t>
            </a:r>
            <a:endParaRPr lang="en-US" sz="1100" b="1" dirty="0">
              <a:solidFill>
                <a:srgbClr val="FFFFFF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OSRM + Bitmask DP · Interval DP · Tree DP</a:t>
            </a:r>
            <a:endParaRPr lang="en-US" sz="1100" b="1" dirty="0">
              <a:solidFill>
                <a:srgbClr val="FFFFFF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Allocate · Edmonds–Karp Max Flow</a:t>
            </a:r>
            <a:endParaRPr lang="en-US" sz="1100" b="1" dirty="0">
              <a:solidFill>
                <a:srgbClr val="FFFFFF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9509760" y="4160520"/>
            <a:ext cx="365760" cy="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858000" y="3566160"/>
            <a:ext cx="457200" cy="178308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315200" y="4846320"/>
            <a:ext cx="2194560" cy="1005840"/>
          </a:xfrm>
          <a:prstGeom prst="roundRect">
            <a:avLst>
              <a:gd name="adj" fmla="val 10909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7406640" y="4846320"/>
            <a:ext cx="20116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Recommend</a:t>
            </a:r>
            <a:endParaRPr lang="en-US" sz="1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SOS DP preference matching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509760" y="5349240"/>
            <a:ext cx="365760" cy="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875520" y="1280160"/>
            <a:ext cx="1737360" cy="4572000"/>
          </a:xfrm>
          <a:prstGeom prst="roundRect">
            <a:avLst>
              <a:gd name="adj" fmla="val 6316"/>
            </a:avLst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9875520" y="1280160"/>
            <a:ext cx="1737360" cy="457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Backend returns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JSON result</a:t>
            </a:r>
            <a:endParaRPr lang="en-US" sz="1300" dirty="0"/>
          </a:p>
          <a:p>
            <a:pPr marL="0" indent="0" algn="ctr">
              <a:buNone/>
            </a:pP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Frontend displays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the result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4754880"/>
            <a:ext cx="45720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B7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External data (Open-Meteo, Wikipedia, OSRM, Overpass) is fetched by the backend whenever a feature needs it.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608076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14400" y="608076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B6B7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Start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651760" y="608076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017520" y="608076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B6B7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Frontend (React)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54880" y="608076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120640" y="608076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B6B7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Decision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858000" y="608076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223760" y="608076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B6B7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DSA engine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961120" y="608076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326880" y="608076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B6B7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Result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Application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978408"/>
            <a:ext cx="822960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TRAVELSYNC  |  DSA Review-1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4652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3291840" cy="5029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7C5CBF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48640" y="1280160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5CB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React + Vite frontend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1828800"/>
            <a:ext cx="2834640" cy="2377440"/>
          </a:xfrm>
          <a:prstGeom prst="roundRect">
            <a:avLst>
              <a:gd name="adj" fmla="val 3846"/>
            </a:avLst>
          </a:prstGeom>
          <a:solidFill>
            <a:srgbClr val="EFEAF8"/>
          </a:solidFill>
          <a:ln w="12700">
            <a:solidFill>
              <a:srgbClr val="EFEA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1920240"/>
            <a:ext cx="2468880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C5CB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Pages / UI views</a:t>
            </a:r>
            <a:endParaRPr lang="en-US" sz="12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Destination Search</a:t>
            </a:r>
            <a:endParaRPr lang="en-US" sz="12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Nearby Places</a:t>
            </a:r>
            <a:endParaRPr lang="en-US" sz="12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Destination Comparison</a:t>
            </a:r>
            <a:endParaRPr lang="en-US" sz="12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Trip Planning</a:t>
            </a:r>
            <a:endParaRPr lang="en-US" sz="12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Recommendations</a:t>
            </a:r>
            <a:endParaRPr lang="en-US" sz="12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Algorithm Insights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4434840"/>
            <a:ext cx="2834640" cy="1554480"/>
          </a:xfrm>
          <a:prstGeom prst="roundRect">
            <a:avLst>
              <a:gd name="adj" fmla="val 5882"/>
            </a:avLst>
          </a:prstGeom>
          <a:solidFill>
            <a:srgbClr val="EFEAF8"/>
          </a:solidFill>
          <a:ln w="12700">
            <a:solidFill>
              <a:srgbClr val="EFEA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4526280"/>
            <a:ext cx="246888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C5CB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API client</a:t>
            </a:r>
            <a:endParaRPr lang="en-US" sz="12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REST calls to the backend (JSON)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40480" y="3017520"/>
            <a:ext cx="365760" cy="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 flipH="1">
            <a:off x="3840480" y="3474720"/>
            <a:ext cx="365760" cy="0"/>
          </a:xfrm>
          <a:prstGeom prst="line">
            <a:avLst/>
          </a:prstGeom>
          <a:noFill/>
          <a:ln w="25400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206240" y="1234440"/>
            <a:ext cx="7406640" cy="50292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25400">
            <a:solidFill>
              <a:srgbClr val="1D6FB8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206240" y="1280160"/>
            <a:ext cx="7406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6F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Spring Boot backend · Java 21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434840" y="1828800"/>
            <a:ext cx="3108960" cy="1005840"/>
          </a:xfrm>
          <a:prstGeom prst="roundRect">
            <a:avLst>
              <a:gd name="adj" fmla="val 10909"/>
            </a:avLst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434840" y="1828800"/>
            <a:ext cx="31089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Controllers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REST endpoints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89520" y="2194560"/>
            <a:ext cx="640080" cy="274320"/>
          </a:xfrm>
          <a:prstGeom prst="rightArrow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75320" y="1828800"/>
            <a:ext cx="3108960" cy="1005840"/>
          </a:xfrm>
          <a:prstGeom prst="roundRect">
            <a:avLst>
              <a:gd name="adj" fmla="val 10909"/>
            </a:avLst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275320" y="1828800"/>
            <a:ext cx="31089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Services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application logic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 flipH="1">
            <a:off x="5532120" y="2834640"/>
            <a:ext cx="4297680" cy="640080"/>
          </a:xfrm>
          <a:prstGeom prst="line">
            <a:avLst/>
          </a:prstGeom>
          <a:noFill/>
          <a:ln w="22225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434840" y="3474720"/>
            <a:ext cx="2194560" cy="256032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25400">
            <a:solidFill>
              <a:srgbClr val="F28C28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34840" y="3474720"/>
            <a:ext cx="2194560" cy="457200"/>
          </a:xfrm>
          <a:prstGeom prst="roundRect">
            <a:avLst>
              <a:gd name="adj" fmla="val 20000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434840" y="347472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DSA Engine package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544568" y="4005072"/>
            <a:ext cx="1975104" cy="1965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String search / Naive · KMP · Z-Function · Rabin–Karp · Aho–Corasick / Text &amp; sequence / Edit Distance · Suffix Array + LCP · Needleman–Wunsch · Smith–Waterman / DP planning / Bitmask · Interval · Tree · SOS DP / Network flow / Edmonds–Karp</a:t>
            </a:r>
            <a:endParaRPr lang="en-US" sz="1000" b="1" dirty="0">
              <a:solidFill>
                <a:srgbClr val="0B1F3A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</p:txBody>
      </p:sp>
      <p:sp>
        <p:nvSpPr>
          <p:cNvPr id="27" name="Shape 25"/>
          <p:cNvSpPr/>
          <p:nvPr/>
        </p:nvSpPr>
        <p:spPr>
          <a:xfrm flipH="1">
            <a:off x="7909560" y="2834640"/>
            <a:ext cx="1920240" cy="640080"/>
          </a:xfrm>
          <a:prstGeom prst="line">
            <a:avLst/>
          </a:prstGeom>
          <a:noFill/>
          <a:ln w="22225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812280" y="3474720"/>
            <a:ext cx="2194560" cy="256032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12280" y="3474720"/>
            <a:ext cx="2194560" cy="457200"/>
          </a:xfrm>
          <a:prstGeom prst="roundRect">
            <a:avLst>
              <a:gd name="adj" fmla="val 200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12280" y="347472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Models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922008" y="4005072"/>
            <a:ext cx="1975104" cy="1965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Destination</a:t>
            </a:r>
            <a:endParaRPr lang="en-US" sz="12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Booking</a:t>
            </a:r>
            <a:endParaRPr lang="en-US" sz="12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Itinerary</a:t>
            </a:r>
            <a:endParaRPr lang="en-US" sz="12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Route</a:t>
            </a:r>
            <a:endParaRPr lang="en-US" sz="12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Place</a:t>
            </a:r>
            <a:endParaRPr lang="en-US" sz="12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TravelPreference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829800" y="2834640"/>
            <a:ext cx="457200" cy="640080"/>
          </a:xfrm>
          <a:prstGeom prst="line">
            <a:avLst/>
          </a:prstGeom>
          <a:noFill/>
          <a:ln w="22225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189720" y="3474720"/>
            <a:ext cx="2194560" cy="256032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25400">
            <a:solidFill>
              <a:srgbClr val="0B1F3A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189720" y="3474720"/>
            <a:ext cx="2194560" cy="457200"/>
          </a:xfrm>
          <a:prstGeom prst="roundRect">
            <a:avLst>
              <a:gd name="adj" fmla="val 2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189720" y="347472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External API clients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9299448" y="4005072"/>
            <a:ext cx="1975104" cy="1965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Geocoding</a:t>
            </a:r>
            <a:endParaRPr lang="en-US" sz="12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Weather (Open-Meteo)</a:t>
            </a:r>
            <a:endParaRPr lang="en-US" sz="12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Wikipedia</a:t>
            </a:r>
            <a:endParaRPr lang="en-US" sz="12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Places (Overpass / OSM)</a:t>
            </a:r>
            <a:endParaRPr lang="en-US" sz="12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Routing (OSRM)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ounded Rectangle 56"/>
          <p:cNvSpPr/>
          <p:nvPr/>
        </p:nvSpPr>
        <p:spPr>
          <a:xfrm>
            <a:off x="8559800" y="4876800"/>
            <a:ext cx="3060700" cy="66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C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Data Structures &amp; Algorithms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978408"/>
            <a:ext cx="822960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TRAVELSYNC  |  DSA Review-1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4652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3474720" cy="548640"/>
          </a:xfrm>
          <a:prstGeom prst="roundRect">
            <a:avLst>
              <a:gd name="adj" fmla="val 20000"/>
            </a:avLst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48640" y="1325880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STRING SEARCH &amp; MATCHING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057400"/>
            <a:ext cx="3474720" cy="59436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212848"/>
            <a:ext cx="274320" cy="2743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280160" y="2057400"/>
            <a:ext cx="26517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Naïve String Search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2770632"/>
            <a:ext cx="3474720" cy="59436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92608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280160" y="2770632"/>
            <a:ext cx="26517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KMP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48640" y="3483864"/>
            <a:ext cx="3474720" cy="59436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63931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80160" y="3483864"/>
            <a:ext cx="26517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Z-Function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48640" y="4197096"/>
            <a:ext cx="3474720" cy="59436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352544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280160" y="4197096"/>
            <a:ext cx="26517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Rabin–Karp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548640" y="4910328"/>
            <a:ext cx="3474720" cy="59436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65776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280160" y="4910328"/>
            <a:ext cx="26517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Aho–Corasick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4343400" y="1325880"/>
            <a:ext cx="3474720" cy="548640"/>
          </a:xfrm>
          <a:prstGeom prst="roundRect">
            <a:avLst>
              <a:gd name="adj" fmla="val 200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25" name="Text 18"/>
          <p:cNvSpPr txBox="1"/>
          <p:nvPr/>
        </p:nvSpPr>
        <p:spPr>
          <a:xfrm>
            <a:off x="4343400" y="1325880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TEXT COMPARISON &amp; ALIGNMENT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4343400" y="2057400"/>
            <a:ext cx="3474720" cy="59436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212848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074920" y="2057400"/>
            <a:ext cx="26517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Edit Distance</a:t>
            </a:r>
            <a:endParaRPr lang="en-US" sz="1400" dirty="0"/>
          </a:p>
        </p:txBody>
      </p:sp>
      <p:sp>
        <p:nvSpPr>
          <p:cNvPr id="29" name="Shape 21"/>
          <p:cNvSpPr/>
          <p:nvPr/>
        </p:nvSpPr>
        <p:spPr>
          <a:xfrm>
            <a:off x="4343400" y="2770632"/>
            <a:ext cx="3474720" cy="59436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926080"/>
            <a:ext cx="274320" cy="27432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5074920" y="2770632"/>
            <a:ext cx="26517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Suffix Array</a:t>
            </a:r>
            <a:endParaRPr lang="en-US" sz="1400" dirty="0"/>
          </a:p>
        </p:txBody>
      </p:sp>
      <p:sp>
        <p:nvSpPr>
          <p:cNvPr id="32" name="Shape 23"/>
          <p:cNvSpPr/>
          <p:nvPr/>
        </p:nvSpPr>
        <p:spPr>
          <a:xfrm>
            <a:off x="4343400" y="3483864"/>
            <a:ext cx="3474720" cy="59436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639312"/>
            <a:ext cx="274320" cy="274320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5074920" y="3483864"/>
            <a:ext cx="26517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LCP (Kasai)</a:t>
            </a:r>
            <a:endParaRPr lang="en-US" sz="1400" dirty="0"/>
          </a:p>
        </p:txBody>
      </p:sp>
      <p:sp>
        <p:nvSpPr>
          <p:cNvPr id="35" name="Shape 25"/>
          <p:cNvSpPr/>
          <p:nvPr/>
        </p:nvSpPr>
        <p:spPr>
          <a:xfrm>
            <a:off x="4343400" y="4197096"/>
            <a:ext cx="3474720" cy="59436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352544"/>
            <a:ext cx="274320" cy="274320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5074920" y="4197096"/>
            <a:ext cx="26517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Needleman–Wunsch</a:t>
            </a:r>
            <a:endParaRPr lang="en-US" sz="1400" dirty="0"/>
          </a:p>
        </p:txBody>
      </p:sp>
      <p:sp>
        <p:nvSpPr>
          <p:cNvPr id="38" name="Shape 27"/>
          <p:cNvSpPr/>
          <p:nvPr/>
        </p:nvSpPr>
        <p:spPr>
          <a:xfrm>
            <a:off x="4343400" y="4910328"/>
            <a:ext cx="3474720" cy="59436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5065776"/>
            <a:ext cx="274320" cy="274320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5074920" y="4910328"/>
            <a:ext cx="26517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Smith–Waterman</a:t>
            </a:r>
            <a:endParaRPr lang="en-US" sz="1400" dirty="0"/>
          </a:p>
        </p:txBody>
      </p:sp>
      <p:sp>
        <p:nvSpPr>
          <p:cNvPr id="41" name="Shape 29"/>
          <p:cNvSpPr/>
          <p:nvPr/>
        </p:nvSpPr>
        <p:spPr>
          <a:xfrm>
            <a:off x="8138160" y="1325880"/>
            <a:ext cx="3474720" cy="548640"/>
          </a:xfrm>
          <a:prstGeom prst="roundRect">
            <a:avLst>
              <a:gd name="adj" fmla="val 20000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42" name="Text 30"/>
          <p:cNvSpPr txBox="1"/>
          <p:nvPr/>
        </p:nvSpPr>
        <p:spPr>
          <a:xfrm>
            <a:off x="8138160" y="1325880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DYNAMIC PROGRAMMING (PLANNING)</a:t>
            </a:r>
            <a:endParaRPr lang="en-US" sz="1100" dirty="0"/>
          </a:p>
        </p:txBody>
      </p:sp>
      <p:sp>
        <p:nvSpPr>
          <p:cNvPr id="43" name="Shape 31"/>
          <p:cNvSpPr/>
          <p:nvPr/>
        </p:nvSpPr>
        <p:spPr>
          <a:xfrm>
            <a:off x="8138160" y="2057400"/>
            <a:ext cx="3474720" cy="59436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pic>
        <p:nvPicPr>
          <p:cNvPr id="44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212848"/>
            <a:ext cx="274320" cy="274320"/>
          </a:xfrm>
          <a:prstGeom prst="rect">
            <a:avLst/>
          </a:prstGeom>
        </p:spPr>
      </p:pic>
      <p:sp>
        <p:nvSpPr>
          <p:cNvPr id="45" name="Text 32"/>
          <p:cNvSpPr txBox="1"/>
          <p:nvPr/>
        </p:nvSpPr>
        <p:spPr>
          <a:xfrm>
            <a:off x="8869680" y="2057400"/>
            <a:ext cx="26517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Bitmask DP</a:t>
            </a:r>
            <a:endParaRPr lang="en-US" sz="1400" dirty="0"/>
          </a:p>
        </p:txBody>
      </p:sp>
      <p:sp>
        <p:nvSpPr>
          <p:cNvPr id="46" name="Shape 33"/>
          <p:cNvSpPr/>
          <p:nvPr/>
        </p:nvSpPr>
        <p:spPr>
          <a:xfrm>
            <a:off x="8138160" y="2770632"/>
            <a:ext cx="3474720" cy="59436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pic>
        <p:nvPicPr>
          <p:cNvPr id="47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926080"/>
            <a:ext cx="274320" cy="274320"/>
          </a:xfrm>
          <a:prstGeom prst="rect">
            <a:avLst/>
          </a:prstGeom>
        </p:spPr>
      </p:pic>
      <p:sp>
        <p:nvSpPr>
          <p:cNvPr id="48" name="Text 34"/>
          <p:cNvSpPr txBox="1"/>
          <p:nvPr/>
        </p:nvSpPr>
        <p:spPr>
          <a:xfrm>
            <a:off x="8869680" y="2770632"/>
            <a:ext cx="26517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Interval DP</a:t>
            </a:r>
            <a:endParaRPr lang="en-US" sz="1400" dirty="0"/>
          </a:p>
        </p:txBody>
      </p:sp>
      <p:sp>
        <p:nvSpPr>
          <p:cNvPr id="49" name="Shape 35"/>
          <p:cNvSpPr/>
          <p:nvPr/>
        </p:nvSpPr>
        <p:spPr>
          <a:xfrm>
            <a:off x="8138160" y="3483864"/>
            <a:ext cx="3474720" cy="59436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pic>
        <p:nvPicPr>
          <p:cNvPr id="50" name="Image 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3639312"/>
            <a:ext cx="274320" cy="274320"/>
          </a:xfrm>
          <a:prstGeom prst="rect">
            <a:avLst/>
          </a:prstGeom>
        </p:spPr>
      </p:pic>
      <p:sp>
        <p:nvSpPr>
          <p:cNvPr id="51" name="Text 36"/>
          <p:cNvSpPr txBox="1"/>
          <p:nvPr/>
        </p:nvSpPr>
        <p:spPr>
          <a:xfrm>
            <a:off x="8869680" y="3483864"/>
            <a:ext cx="26517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Tree DP</a:t>
            </a:r>
            <a:endParaRPr lang="en-US" sz="1400" dirty="0"/>
          </a:p>
        </p:txBody>
      </p:sp>
      <p:sp>
        <p:nvSpPr>
          <p:cNvPr id="52" name="Shape 37"/>
          <p:cNvSpPr/>
          <p:nvPr/>
        </p:nvSpPr>
        <p:spPr>
          <a:xfrm>
            <a:off x="8138160" y="4197096"/>
            <a:ext cx="3474720" cy="59436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pic>
        <p:nvPicPr>
          <p:cNvPr id="53" name="Image 1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4352544"/>
            <a:ext cx="274320" cy="274320"/>
          </a:xfrm>
          <a:prstGeom prst="rect">
            <a:avLst/>
          </a:prstGeom>
        </p:spPr>
      </p:pic>
      <p:sp>
        <p:nvSpPr>
          <p:cNvPr id="54" name="Text 38"/>
          <p:cNvSpPr txBox="1"/>
          <p:nvPr/>
        </p:nvSpPr>
        <p:spPr>
          <a:xfrm>
            <a:off x="8869680" y="4197096"/>
            <a:ext cx="26517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SOS DP</a:t>
            </a:r>
            <a:endParaRPr lang="en-US" sz="1400" dirty="0"/>
          </a:p>
        </p:txBody>
      </p:sp>
      <p:sp>
        <p:nvSpPr>
          <p:cNvPr id="55" name="Text 39"/>
          <p:cNvSpPr txBox="1"/>
          <p:nvPr/>
        </p:nvSpPr>
        <p:spPr>
          <a:xfrm>
            <a:off x="548640" y="576072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15 algorithm engines are implemented: the 14 shown above plus Edmonds–Karp maximum flow for activity allocation. Edit Distance and both sequence-alignment algorithms also use dynamic programming.</a:t>
            </a:r>
            <a:endParaRPr lang="en-US" sz="1000" dirty="0">
              <a:solidFill>
                <a:srgbClr val="5B6B7F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</p:txBody>
      </p:sp>
      <p:sp>
        <p:nvSpPr>
          <p:cNvPr id="56" name="Text Box 55"/>
          <p:cNvSpPr txBox="1"/>
          <p:nvPr/>
        </p:nvSpPr>
        <p:spPr>
          <a:xfrm>
            <a:off x="8864600" y="4902200"/>
            <a:ext cx="26543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900" b="1">
                <a:solidFill>
                  <a:srgbClr val="0B1F3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NETWORK FLOW</a:t>
            </a:r>
            <a:endParaRPr lang="en-US" sz="900" b="1">
              <a:solidFill>
                <a:srgbClr val="0B1F3A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1100" b="1">
                <a:solidFill>
                  <a:srgbClr val="0B1F3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Edmonds–Karp Max Flow</a:t>
            </a:r>
            <a:endParaRPr lang="en-US" sz="1100" b="1">
              <a:solidFill>
                <a:srgbClr val="0B1F3A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String Search in TravelSync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978408"/>
            <a:ext cx="822960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TRAVELSYNC  |  DSA Review-1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4652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2377440" cy="822960"/>
          </a:xfrm>
          <a:prstGeom prst="roundRect">
            <a:avLst>
              <a:gd name="adj" fmla="val 13333"/>
            </a:avLst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48640" y="1325880"/>
            <a:ext cx="23774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User Query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971800" y="1600200"/>
            <a:ext cx="365760" cy="274320"/>
          </a:xfrm>
          <a:prstGeom prst="rightArrow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1325880"/>
            <a:ext cx="2377440" cy="822960"/>
          </a:xfrm>
          <a:prstGeom prst="roundRect">
            <a:avLst>
              <a:gd name="adj" fmla="val 13333"/>
            </a:avLst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383280" y="1325880"/>
            <a:ext cx="23774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Travel Information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806440" y="1600200"/>
            <a:ext cx="365760" cy="274320"/>
          </a:xfrm>
          <a:prstGeom prst="rightArrow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325880"/>
            <a:ext cx="2377440" cy="822960"/>
          </a:xfrm>
          <a:prstGeom prst="roundRect">
            <a:avLst>
              <a:gd name="adj" fmla="val 13333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217920" y="1325880"/>
            <a:ext cx="23774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String Algorithm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41080" y="1600200"/>
            <a:ext cx="365760" cy="274320"/>
          </a:xfrm>
          <a:prstGeom prst="rightArrow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52560" y="1325880"/>
            <a:ext cx="2377440" cy="82296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052560" y="1325880"/>
            <a:ext cx="23774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Relevant Result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2651760"/>
            <a:ext cx="2103120" cy="338328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234440" y="2880360"/>
            <a:ext cx="731520" cy="731520"/>
          </a:xfrm>
          <a:prstGeom prst="ellipse">
            <a:avLst/>
          </a:prstGeom>
          <a:solidFill>
            <a:srgbClr val="5B6B7F"/>
          </a:solidFill>
          <a:ln w="12700">
            <a:solidFill>
              <a:srgbClr val="5B6B7F"/>
            </a:solidFill>
            <a:prstDash val="solid"/>
          </a:ln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608" y="3081528"/>
            <a:ext cx="329184" cy="329184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640080" y="379476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Naïve Search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1417320" y="4343400"/>
            <a:ext cx="365760" cy="365760"/>
          </a:xfrm>
          <a:prstGeom prst="downArrow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5800" y="4800600"/>
            <a:ext cx="182880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7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Baseline string matching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2788920" y="2651760"/>
            <a:ext cx="2103120" cy="338328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474720" y="2880360"/>
            <a:ext cx="731520" cy="7315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8" y="3081528"/>
            <a:ext cx="329184" cy="329184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2880360" y="379476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KMP &amp; Z-Function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3657600" y="4343400"/>
            <a:ext cx="365760" cy="365760"/>
          </a:xfrm>
          <a:prstGeom prst="downArrow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2926080" y="4800600"/>
            <a:ext cx="182880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7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Pattern searching in travel text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5029200" y="2651760"/>
            <a:ext cx="2103120" cy="338328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5715000" y="2880360"/>
            <a:ext cx="731520" cy="731520"/>
          </a:xfrm>
          <a:prstGeom prst="ellipse">
            <a:avLst/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168" y="3081528"/>
            <a:ext cx="329184" cy="329184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5120640" y="379476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Aho–Corasick</a:t>
            </a:r>
            <a:endParaRPr lang="en-US" sz="1400" dirty="0"/>
          </a:p>
        </p:txBody>
      </p:sp>
      <p:sp>
        <p:nvSpPr>
          <p:cNvPr id="34" name="Shape 29"/>
          <p:cNvSpPr/>
          <p:nvPr/>
        </p:nvSpPr>
        <p:spPr>
          <a:xfrm>
            <a:off x="5897880" y="4343400"/>
            <a:ext cx="365760" cy="365760"/>
          </a:xfrm>
          <a:prstGeom prst="downArrow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5166360" y="4800600"/>
            <a:ext cx="182880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7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Multiple keyword search</a:t>
            </a:r>
            <a:endParaRPr lang="en-US" sz="1300" dirty="0"/>
          </a:p>
        </p:txBody>
      </p:sp>
      <p:sp>
        <p:nvSpPr>
          <p:cNvPr id="36" name="Shape 31"/>
          <p:cNvSpPr/>
          <p:nvPr/>
        </p:nvSpPr>
        <p:spPr>
          <a:xfrm>
            <a:off x="7269480" y="2651760"/>
            <a:ext cx="2103120" cy="338328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37" name="Shape 32"/>
          <p:cNvSpPr/>
          <p:nvPr/>
        </p:nvSpPr>
        <p:spPr>
          <a:xfrm>
            <a:off x="7955280" y="2880360"/>
            <a:ext cx="731520" cy="7315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448" y="3081528"/>
            <a:ext cx="329184" cy="329184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7360920" y="379476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Rabin–Karp</a:t>
            </a:r>
            <a:endParaRPr lang="en-US" sz="1400" dirty="0"/>
          </a:p>
        </p:txBody>
      </p:sp>
      <p:sp>
        <p:nvSpPr>
          <p:cNvPr id="40" name="Shape 34"/>
          <p:cNvSpPr/>
          <p:nvPr/>
        </p:nvSpPr>
        <p:spPr>
          <a:xfrm>
            <a:off x="8138160" y="4343400"/>
            <a:ext cx="365760" cy="365760"/>
          </a:xfrm>
          <a:prstGeom prst="downArrow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7406640" y="4800600"/>
            <a:ext cx="182880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7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Booking-code search</a:t>
            </a:r>
            <a:endParaRPr lang="en-US" sz="1300" dirty="0"/>
          </a:p>
        </p:txBody>
      </p:sp>
      <p:sp>
        <p:nvSpPr>
          <p:cNvPr id="42" name="Shape 36"/>
          <p:cNvSpPr/>
          <p:nvPr/>
        </p:nvSpPr>
        <p:spPr>
          <a:xfrm>
            <a:off x="9509760" y="2651760"/>
            <a:ext cx="2103120" cy="338328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43" name="Shape 37"/>
          <p:cNvSpPr/>
          <p:nvPr/>
        </p:nvSpPr>
        <p:spPr>
          <a:xfrm>
            <a:off x="10195560" y="2880360"/>
            <a:ext cx="731520" cy="731520"/>
          </a:xfrm>
          <a:prstGeom prst="ellipse">
            <a:avLst/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pic>
        <p:nvPicPr>
          <p:cNvPr id="4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96728" y="3081528"/>
            <a:ext cx="329184" cy="329184"/>
          </a:xfrm>
          <a:prstGeom prst="rect">
            <a:avLst/>
          </a:prstGeom>
        </p:spPr>
      </p:pic>
      <p:sp>
        <p:nvSpPr>
          <p:cNvPr id="45" name="Text 38"/>
          <p:cNvSpPr txBox="1"/>
          <p:nvPr/>
        </p:nvSpPr>
        <p:spPr>
          <a:xfrm>
            <a:off x="9601200" y="379476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Edit Distance</a:t>
            </a:r>
            <a:endParaRPr lang="en-US" sz="1400" dirty="0"/>
          </a:p>
        </p:txBody>
      </p:sp>
      <p:sp>
        <p:nvSpPr>
          <p:cNvPr id="46" name="Shape 39"/>
          <p:cNvSpPr/>
          <p:nvPr/>
        </p:nvSpPr>
        <p:spPr>
          <a:xfrm>
            <a:off x="10378440" y="4343400"/>
            <a:ext cx="365760" cy="365760"/>
          </a:xfrm>
          <a:prstGeom prst="downArrow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47" name="Text 40"/>
          <p:cNvSpPr txBox="1"/>
          <p:nvPr/>
        </p:nvSpPr>
        <p:spPr>
          <a:xfrm>
            <a:off x="9646920" y="4800600"/>
            <a:ext cx="182880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7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Destination typo suggestions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Travel Description Comparison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978408"/>
            <a:ext cx="822960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TRAVELSYNC  |  DSA Review-1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4652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3566160" cy="16002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554480"/>
            <a:ext cx="457200" cy="54864"/>
          </a:xfrm>
          <a:prstGeom prst="rect">
            <a:avLst/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169164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SUFFIX ARRAY + LCP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103120"/>
            <a:ext cx="30175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Finds the longest common substring shared by two destination descriptions.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1325880"/>
            <a:ext cx="3566160" cy="16002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1554480"/>
            <a:ext cx="4572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169164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NEEDLEMAN–WUNSCH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2103120"/>
            <a:ext cx="30175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Aligns two complete descriptions end to end and scores their similarity.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6720" y="1325880"/>
            <a:ext cx="3566160" cy="16002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21040" y="1554480"/>
            <a:ext cx="457200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21040" y="169164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SMITH–WATERMAN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103120"/>
            <a:ext cx="30175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Finds the best-matching local region between two descriptions.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291840"/>
            <a:ext cx="42976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22960" y="33832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D6F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DESCRIPTION A (illustrative)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3749040"/>
            <a:ext cx="374904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Goa offers </a:t>
            </a:r>
            <a:r>
              <a:rPr lang="en-US" sz="1400" b="1" dirty="0">
                <a:solidFill>
                  <a:srgbClr val="0B1F3A"/>
                </a:solidFill>
                <a:highlight>
                  <a:srgbClr val="FFD9A8"/>
                </a:highlight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golden sandy beaches</a:t>
            </a:r>
            <a:r>
              <a:rPr lang="en-US" sz="1400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 and lively nightlife.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15200" y="3291840"/>
            <a:ext cx="42976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589520" y="33832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D6F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DESCRIPTION B (illustrative)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589520" y="3749040"/>
            <a:ext cx="374904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Visitors love the 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0B1F3A"/>
                </a:solidFill>
                <a:highlight>
                  <a:srgbClr val="FFD9A8"/>
                </a:highlight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golden sandy beaches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 of coastal Goa.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40680" y="3703320"/>
            <a:ext cx="1280160" cy="128016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40680" y="3703320"/>
            <a:ext cx="128016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Algorithm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46320" y="4343400"/>
            <a:ext cx="594360" cy="0"/>
          </a:xfrm>
          <a:prstGeom prst="line">
            <a:avLst/>
          </a:prstGeom>
          <a:noFill/>
          <a:ln w="25400">
            <a:solidFill>
              <a:srgbClr val="F28C2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 flipH="1">
            <a:off x="6720840" y="4343400"/>
            <a:ext cx="594360" cy="0"/>
          </a:xfrm>
          <a:prstGeom prst="line">
            <a:avLst/>
          </a:prstGeom>
          <a:noFill/>
          <a:ln w="25400">
            <a:solidFill>
              <a:srgbClr val="F28C2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897880" y="5029200"/>
            <a:ext cx="365760" cy="320040"/>
          </a:xfrm>
          <a:prstGeom prst="downArrow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06240" y="5669280"/>
            <a:ext cx="3749040" cy="502920"/>
          </a:xfrm>
          <a:prstGeom prst="roundRect">
            <a:avLst>
              <a:gd name="adj" fmla="val 21818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4206240" y="5669280"/>
            <a:ext cx="3749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Shared Text · Alignment Score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Dynamic Programming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978408"/>
            <a:ext cx="822960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TRAVELSYNC  |  DSA Review-1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4652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2651760" cy="283464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600200"/>
            <a:ext cx="731520" cy="731520"/>
          </a:xfrm>
          <a:prstGeom prst="ellipse">
            <a:avLst/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8308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77240" y="256032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BITMASK DP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017520"/>
            <a:ext cx="228600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B6B7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Multi-destination route ordering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383280" y="1371600"/>
            <a:ext cx="2651760" cy="283464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11880" y="1600200"/>
            <a:ext cx="731520" cy="7315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178308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611880" y="256032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INTERVAL DP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3611880" y="3017520"/>
            <a:ext cx="228600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B6B7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Choosing non-overlapping activities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217920" y="1371600"/>
            <a:ext cx="2651760" cy="283464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46520" y="1600200"/>
            <a:ext cx="731520" cy="731520"/>
          </a:xfrm>
          <a:prstGeom prst="ellipse">
            <a:avLst/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78308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446520" y="256032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TREE DP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6446520" y="3017520"/>
            <a:ext cx="228600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B6B7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Hierarchical travel-plan optimization under a budget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9052560" y="1371600"/>
            <a:ext cx="2651760" cy="283464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281160" y="1600200"/>
            <a:ext cx="731520" cy="7315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178308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281160" y="256032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SOS DP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9281160" y="3017520"/>
            <a:ext cx="228600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B6B7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Preference-based recommendations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548640" y="4572000"/>
            <a:ext cx="11064240" cy="137160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 w="9525">
            <a:solidFill>
              <a:srgbClr val="0B1F3A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28" name="Text 22"/>
          <p:cNvSpPr txBox="1"/>
          <p:nvPr/>
        </p:nvSpPr>
        <p:spPr>
          <a:xfrm>
            <a:off x="868680" y="470916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28C2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ALSO DP TECHNIQUES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868680" y="507492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Edit Distance  ·  Needleman–Wunsch  ·  Smith–Waterman</a:t>
            </a:r>
            <a:endParaRPr lang="en-US" sz="1800" dirty="0"/>
          </a:p>
        </p:txBody>
      </p:sp>
      <p:sp>
        <p:nvSpPr>
          <p:cNvPr id="30" name="Text 24"/>
          <p:cNvSpPr txBox="1"/>
          <p:nvPr/>
        </p:nvSpPr>
        <p:spPr>
          <a:xfrm>
            <a:off x="868680" y="5532120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8F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Used for typo suggestions and description alignment.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Multi-Destination Itinerary Optimization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978408"/>
            <a:ext cx="822960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TRAVELSYNC  |  DSA Review-1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4652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3108960" cy="731520"/>
          </a:xfrm>
          <a:prstGeom prst="roundRect">
            <a:avLst>
              <a:gd name="adj" fmla="val 15000"/>
            </a:avLst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48640" y="132588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Selected Destinations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920240" y="2103120"/>
            <a:ext cx="365760" cy="365760"/>
          </a:xfrm>
          <a:prstGeom prst="downArrow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514600"/>
            <a:ext cx="3108960" cy="731520"/>
          </a:xfrm>
          <a:prstGeom prst="roundRect">
            <a:avLst>
              <a:gd name="adj" fmla="val 15000"/>
            </a:avLst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48640" y="251460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OSRM Route Matrix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920240" y="3291840"/>
            <a:ext cx="365760" cy="365760"/>
          </a:xfrm>
          <a:prstGeom prst="downArrow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703320"/>
            <a:ext cx="3108960" cy="731520"/>
          </a:xfrm>
          <a:prstGeom prst="roundRect">
            <a:avLst>
              <a:gd name="adj" fmla="val 150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48640" y="370332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Bitmask DP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920240" y="4480560"/>
            <a:ext cx="365760" cy="365760"/>
          </a:xfrm>
          <a:prstGeom prst="downArrow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892040"/>
            <a:ext cx="3108960" cy="73152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48640" y="489204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Ordered Itinerary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+ Route Totals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206240" y="1325880"/>
            <a:ext cx="740664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19178" y="2138154"/>
            <a:ext cx="320413" cy="825964"/>
          </a:xfrm>
          <a:prstGeom prst="line">
            <a:avLst/>
          </a:prstGeom>
          <a:noFill/>
          <a:ln w="9525">
            <a:solidFill>
              <a:srgbClr val="D6E8F5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19178" y="2138154"/>
            <a:ext cx="219846" cy="1296519"/>
          </a:xfrm>
          <a:prstGeom prst="line">
            <a:avLst/>
          </a:prstGeom>
          <a:noFill/>
          <a:ln w="9525">
            <a:solidFill>
              <a:srgbClr val="D6E8F5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H="1">
            <a:off x="6042495" y="2138154"/>
            <a:ext cx="676683" cy="318519"/>
          </a:xfrm>
          <a:prstGeom prst="line">
            <a:avLst/>
          </a:prstGeom>
          <a:noFill/>
          <a:ln w="9525">
            <a:solidFill>
              <a:srgbClr val="D6E8F5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H="1">
            <a:off x="6619637" y="2138154"/>
            <a:ext cx="99541" cy="1576097"/>
          </a:xfrm>
          <a:prstGeom prst="line">
            <a:avLst/>
          </a:prstGeom>
          <a:noFill/>
          <a:ln w="9525">
            <a:solidFill>
              <a:srgbClr val="D6E8F5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H="1" flipV="1">
            <a:off x="9023521" y="2250475"/>
            <a:ext cx="1937268" cy="406025"/>
          </a:xfrm>
          <a:prstGeom prst="line">
            <a:avLst/>
          </a:prstGeom>
          <a:noFill/>
          <a:ln w="9525">
            <a:solidFill>
              <a:srgbClr val="D6E8F5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60789" y="2656501"/>
            <a:ext cx="203669" cy="144306"/>
          </a:xfrm>
          <a:prstGeom prst="line">
            <a:avLst/>
          </a:prstGeom>
          <a:noFill/>
          <a:ln w="9525">
            <a:solidFill>
              <a:srgbClr val="D6E8F5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960789" y="2656501"/>
            <a:ext cx="117589" cy="1043463"/>
          </a:xfrm>
          <a:prstGeom prst="line">
            <a:avLst/>
          </a:prstGeom>
          <a:noFill/>
          <a:ln w="9525">
            <a:solidFill>
              <a:srgbClr val="D6E8F5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H="1" flipV="1">
            <a:off x="9311760" y="1515749"/>
            <a:ext cx="1649029" cy="1140752"/>
          </a:xfrm>
          <a:prstGeom prst="line">
            <a:avLst/>
          </a:prstGeom>
          <a:noFill/>
          <a:ln w="9525">
            <a:solidFill>
              <a:srgbClr val="D6E8F5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H="1">
            <a:off x="10721083" y="2656501"/>
            <a:ext cx="239706" cy="1082405"/>
          </a:xfrm>
          <a:prstGeom prst="line">
            <a:avLst/>
          </a:prstGeom>
          <a:noFill/>
          <a:ln w="9525">
            <a:solidFill>
              <a:srgbClr val="D6E8F5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H="1" flipV="1">
            <a:off x="10471598" y="1967113"/>
            <a:ext cx="489191" cy="689387"/>
          </a:xfrm>
          <a:prstGeom prst="line">
            <a:avLst/>
          </a:prstGeom>
          <a:noFill/>
          <a:ln w="9525">
            <a:solidFill>
              <a:srgbClr val="D6E8F5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H="1">
            <a:off x="10298594" y="2656501"/>
            <a:ext cx="662195" cy="747121"/>
          </a:xfrm>
          <a:prstGeom prst="line">
            <a:avLst/>
          </a:prstGeom>
          <a:noFill/>
          <a:ln w="9525">
            <a:solidFill>
              <a:srgbClr val="D6E8F5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H="1" flipV="1">
            <a:off x="10027378" y="2543406"/>
            <a:ext cx="933412" cy="113094"/>
          </a:xfrm>
          <a:prstGeom prst="line">
            <a:avLst/>
          </a:prstGeom>
          <a:noFill/>
          <a:ln w="9525">
            <a:solidFill>
              <a:srgbClr val="D6E8F5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9023521" y="1515749"/>
            <a:ext cx="288239" cy="734726"/>
          </a:xfrm>
          <a:prstGeom prst="line">
            <a:avLst/>
          </a:prstGeom>
          <a:noFill/>
          <a:ln w="9525">
            <a:solidFill>
              <a:srgbClr val="D6E8F5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9023521" y="1967113"/>
            <a:ext cx="1448077" cy="283362"/>
          </a:xfrm>
          <a:prstGeom prst="line">
            <a:avLst/>
          </a:prstGeom>
          <a:noFill/>
          <a:ln w="9525">
            <a:solidFill>
              <a:srgbClr val="D6E8F5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023521" y="2250475"/>
            <a:ext cx="1275073" cy="1153146"/>
          </a:xfrm>
          <a:prstGeom prst="line">
            <a:avLst/>
          </a:prstGeom>
          <a:noFill/>
          <a:ln w="9525">
            <a:solidFill>
              <a:srgbClr val="D6E8F5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23521" y="2250475"/>
            <a:ext cx="1003857" cy="292931"/>
          </a:xfrm>
          <a:prstGeom prst="line">
            <a:avLst/>
          </a:prstGeom>
          <a:noFill/>
          <a:ln w="9525">
            <a:solidFill>
              <a:srgbClr val="D6E8F5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H="1">
            <a:off x="11078379" y="2800807"/>
            <a:ext cx="86079" cy="899157"/>
          </a:xfrm>
          <a:prstGeom prst="line">
            <a:avLst/>
          </a:prstGeom>
          <a:noFill/>
          <a:ln w="9525">
            <a:solidFill>
              <a:srgbClr val="D6E8F5">
                <a:alpha val="3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H="1">
            <a:off x="10721083" y="2800807"/>
            <a:ext cx="443375" cy="938099"/>
          </a:xfrm>
          <a:prstGeom prst="line">
            <a:avLst/>
          </a:prstGeom>
          <a:noFill/>
          <a:ln w="9525">
            <a:solidFill>
              <a:srgbClr val="D6E8F5">
                <a:alpha val="3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H="1" flipV="1">
            <a:off x="10471598" y="1967113"/>
            <a:ext cx="692860" cy="833694"/>
          </a:xfrm>
          <a:prstGeom prst="line">
            <a:avLst/>
          </a:prstGeom>
          <a:noFill/>
          <a:ln w="9525">
            <a:solidFill>
              <a:srgbClr val="D6E8F5">
                <a:alpha val="3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H="1">
            <a:off x="10298594" y="2800807"/>
            <a:ext cx="865864" cy="602814"/>
          </a:xfrm>
          <a:prstGeom prst="line">
            <a:avLst/>
          </a:prstGeom>
          <a:noFill/>
          <a:ln w="9525">
            <a:solidFill>
              <a:srgbClr val="D6E8F5">
                <a:alpha val="3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H="1" flipV="1">
            <a:off x="10027378" y="2543406"/>
            <a:ext cx="1137080" cy="257401"/>
          </a:xfrm>
          <a:prstGeom prst="line">
            <a:avLst/>
          </a:prstGeom>
          <a:noFill/>
          <a:ln w="9525">
            <a:solidFill>
              <a:srgbClr val="D6E8F5">
                <a:alpha val="3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H="1">
            <a:off x="6939024" y="2964118"/>
            <a:ext cx="100567" cy="470555"/>
          </a:xfrm>
          <a:prstGeom prst="line">
            <a:avLst/>
          </a:prstGeom>
          <a:noFill/>
          <a:ln w="9525">
            <a:solidFill>
              <a:srgbClr val="D6E8F5">
                <a:alpha val="3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H="1" flipV="1">
            <a:off x="6042495" y="2456673"/>
            <a:ext cx="997096" cy="507445"/>
          </a:xfrm>
          <a:prstGeom prst="line">
            <a:avLst/>
          </a:prstGeom>
          <a:noFill/>
          <a:ln w="9525">
            <a:solidFill>
              <a:srgbClr val="D6E8F5">
                <a:alpha val="3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H="1">
            <a:off x="6619637" y="2964118"/>
            <a:ext cx="419954" cy="750133"/>
          </a:xfrm>
          <a:prstGeom prst="line">
            <a:avLst/>
          </a:prstGeom>
          <a:noFill/>
          <a:ln w="9525">
            <a:solidFill>
              <a:srgbClr val="D6E8F5">
                <a:alpha val="3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H="1">
            <a:off x="10721083" y="3699964"/>
            <a:ext cx="357296" cy="38942"/>
          </a:xfrm>
          <a:prstGeom prst="line">
            <a:avLst/>
          </a:prstGeom>
          <a:noFill/>
          <a:ln w="9525">
            <a:solidFill>
              <a:srgbClr val="D6E8F5">
                <a:alpha val="3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H="1" flipV="1">
            <a:off x="10471598" y="1967113"/>
            <a:ext cx="606781" cy="1732851"/>
          </a:xfrm>
          <a:prstGeom prst="line">
            <a:avLst/>
          </a:prstGeom>
          <a:noFill/>
          <a:ln w="9525">
            <a:solidFill>
              <a:srgbClr val="D6E8F5">
                <a:alpha val="3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H="1" flipV="1">
            <a:off x="10298594" y="3403621"/>
            <a:ext cx="779785" cy="296343"/>
          </a:xfrm>
          <a:prstGeom prst="line">
            <a:avLst/>
          </a:prstGeom>
          <a:noFill/>
          <a:ln w="9525">
            <a:solidFill>
              <a:srgbClr val="D6E8F5">
                <a:alpha val="3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H="1" flipV="1">
            <a:off x="10027378" y="2543406"/>
            <a:ext cx="1051001" cy="1156558"/>
          </a:xfrm>
          <a:prstGeom prst="line">
            <a:avLst/>
          </a:prstGeom>
          <a:noFill/>
          <a:ln w="9525">
            <a:solidFill>
              <a:srgbClr val="D6E8F5">
                <a:alpha val="3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H="1" flipV="1">
            <a:off x="6042495" y="2456673"/>
            <a:ext cx="896529" cy="978000"/>
          </a:xfrm>
          <a:prstGeom prst="line">
            <a:avLst/>
          </a:prstGeom>
          <a:noFill/>
          <a:ln w="9525">
            <a:solidFill>
              <a:srgbClr val="D6E8F5">
                <a:alpha val="3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H="1">
            <a:off x="6619637" y="3434673"/>
            <a:ext cx="319387" cy="279577"/>
          </a:xfrm>
          <a:prstGeom prst="line">
            <a:avLst/>
          </a:prstGeom>
          <a:noFill/>
          <a:ln w="9525">
            <a:solidFill>
              <a:srgbClr val="D6E8F5">
                <a:alpha val="3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311760" y="1515749"/>
            <a:ext cx="1159838" cy="451364"/>
          </a:xfrm>
          <a:prstGeom prst="line">
            <a:avLst/>
          </a:prstGeom>
          <a:noFill/>
          <a:ln w="9525">
            <a:solidFill>
              <a:srgbClr val="D6E8F5">
                <a:alpha val="3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311760" y="1515749"/>
            <a:ext cx="715618" cy="1027657"/>
          </a:xfrm>
          <a:prstGeom prst="line">
            <a:avLst/>
          </a:prstGeom>
          <a:noFill/>
          <a:ln w="9525">
            <a:solidFill>
              <a:srgbClr val="D6E8F5">
                <a:alpha val="3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H="1" flipV="1">
            <a:off x="10471598" y="1967113"/>
            <a:ext cx="249485" cy="1771793"/>
          </a:xfrm>
          <a:prstGeom prst="line">
            <a:avLst/>
          </a:prstGeom>
          <a:noFill/>
          <a:ln w="9525">
            <a:solidFill>
              <a:srgbClr val="D6E8F5">
                <a:alpha val="3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H="1" flipV="1">
            <a:off x="10298594" y="3403621"/>
            <a:ext cx="422489" cy="335285"/>
          </a:xfrm>
          <a:prstGeom prst="line">
            <a:avLst/>
          </a:prstGeom>
          <a:noFill/>
          <a:ln w="9525">
            <a:solidFill>
              <a:srgbClr val="D6E8F5">
                <a:alpha val="3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H="1" flipV="1">
            <a:off x="10027378" y="2543406"/>
            <a:ext cx="693705" cy="1195500"/>
          </a:xfrm>
          <a:prstGeom prst="line">
            <a:avLst/>
          </a:prstGeom>
          <a:noFill/>
          <a:ln w="9525">
            <a:solidFill>
              <a:srgbClr val="D6E8F5">
                <a:alpha val="3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H="1">
            <a:off x="10298594" y="1967113"/>
            <a:ext cx="173004" cy="1436508"/>
          </a:xfrm>
          <a:prstGeom prst="line">
            <a:avLst/>
          </a:prstGeom>
          <a:noFill/>
          <a:ln w="9525">
            <a:solidFill>
              <a:srgbClr val="D6E8F5">
                <a:alpha val="3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H="1">
            <a:off x="10027378" y="1967113"/>
            <a:ext cx="444220" cy="576293"/>
          </a:xfrm>
          <a:prstGeom prst="line">
            <a:avLst/>
          </a:prstGeom>
          <a:noFill/>
          <a:ln w="9525">
            <a:solidFill>
              <a:srgbClr val="D6E8F5">
                <a:alpha val="3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042495" y="2456673"/>
            <a:ext cx="577142" cy="1257578"/>
          </a:xfrm>
          <a:prstGeom prst="line">
            <a:avLst/>
          </a:prstGeom>
          <a:noFill/>
          <a:ln w="9525">
            <a:solidFill>
              <a:srgbClr val="D6E8F5">
                <a:alpha val="3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H="1" flipV="1">
            <a:off x="10027378" y="2543406"/>
            <a:ext cx="271216" cy="860215"/>
          </a:xfrm>
          <a:prstGeom prst="line">
            <a:avLst/>
          </a:prstGeom>
          <a:noFill/>
          <a:ln w="9525">
            <a:solidFill>
              <a:srgbClr val="D6E8F5">
                <a:alpha val="3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673458" y="2092434"/>
            <a:ext cx="91440" cy="91440"/>
          </a:xfrm>
          <a:prstGeom prst="ellipse">
            <a:avLst/>
          </a:prstGeom>
          <a:solidFill>
            <a:srgbClr val="D6E8F5">
              <a:alpha val="70000"/>
            </a:srgbClr>
          </a:solidFill>
          <a:ln w="12700">
            <a:solidFill>
              <a:srgbClr val="D6E8F5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915069" y="2610781"/>
            <a:ext cx="91440" cy="91440"/>
          </a:xfrm>
          <a:prstGeom prst="ellipse">
            <a:avLst/>
          </a:prstGeom>
          <a:solidFill>
            <a:srgbClr val="D6E8F5">
              <a:alpha val="70000"/>
            </a:srgbClr>
          </a:solidFill>
          <a:ln w="12700">
            <a:solidFill>
              <a:srgbClr val="D6E8F5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977801" y="2204755"/>
            <a:ext cx="91440" cy="91440"/>
          </a:xfrm>
          <a:prstGeom prst="ellipse">
            <a:avLst/>
          </a:prstGeom>
          <a:solidFill>
            <a:srgbClr val="D6E8F5">
              <a:alpha val="70000"/>
            </a:srgbClr>
          </a:solidFill>
          <a:ln w="12700">
            <a:solidFill>
              <a:srgbClr val="D6E8F5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118738" y="2755087"/>
            <a:ext cx="91440" cy="91440"/>
          </a:xfrm>
          <a:prstGeom prst="ellipse">
            <a:avLst/>
          </a:prstGeom>
          <a:solidFill>
            <a:srgbClr val="D6E8F5">
              <a:alpha val="70000"/>
            </a:srgbClr>
          </a:solidFill>
          <a:ln w="12700">
            <a:solidFill>
              <a:srgbClr val="D6E8F5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993871" y="2918398"/>
            <a:ext cx="91440" cy="91440"/>
          </a:xfrm>
          <a:prstGeom prst="ellipse">
            <a:avLst/>
          </a:prstGeom>
          <a:solidFill>
            <a:srgbClr val="D6E8F5">
              <a:alpha val="70000"/>
            </a:srgbClr>
          </a:solidFill>
          <a:ln w="12700">
            <a:solidFill>
              <a:srgbClr val="D6E8F5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032659" y="3654244"/>
            <a:ext cx="91440" cy="91440"/>
          </a:xfrm>
          <a:prstGeom prst="ellipse">
            <a:avLst/>
          </a:prstGeom>
          <a:solidFill>
            <a:srgbClr val="D6E8F5">
              <a:alpha val="70000"/>
            </a:srgbClr>
          </a:solidFill>
          <a:ln w="12700">
            <a:solidFill>
              <a:srgbClr val="D6E8F5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893304" y="3388953"/>
            <a:ext cx="91440" cy="91440"/>
          </a:xfrm>
          <a:prstGeom prst="ellipse">
            <a:avLst/>
          </a:prstGeom>
          <a:solidFill>
            <a:srgbClr val="D6E8F5">
              <a:alpha val="70000"/>
            </a:srgbClr>
          </a:solidFill>
          <a:ln w="12700">
            <a:solidFill>
              <a:srgbClr val="D6E8F5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266040" y="1470029"/>
            <a:ext cx="91440" cy="91440"/>
          </a:xfrm>
          <a:prstGeom prst="ellipse">
            <a:avLst/>
          </a:prstGeom>
          <a:solidFill>
            <a:srgbClr val="D6E8F5">
              <a:alpha val="70000"/>
            </a:srgbClr>
          </a:solidFill>
          <a:ln w="12700">
            <a:solidFill>
              <a:srgbClr val="D6E8F5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675363" y="3693186"/>
            <a:ext cx="91440" cy="91440"/>
          </a:xfrm>
          <a:prstGeom prst="ellipse">
            <a:avLst/>
          </a:prstGeom>
          <a:solidFill>
            <a:srgbClr val="D6E8F5">
              <a:alpha val="70000"/>
            </a:srgbClr>
          </a:solidFill>
          <a:ln w="12700">
            <a:solidFill>
              <a:srgbClr val="D6E8F5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425878" y="1921393"/>
            <a:ext cx="91440" cy="91440"/>
          </a:xfrm>
          <a:prstGeom prst="ellipse">
            <a:avLst/>
          </a:prstGeom>
          <a:solidFill>
            <a:srgbClr val="D6E8F5">
              <a:alpha val="70000"/>
            </a:srgbClr>
          </a:solidFill>
          <a:ln w="12700">
            <a:solidFill>
              <a:srgbClr val="D6E8F5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996775" y="2410953"/>
            <a:ext cx="91440" cy="91440"/>
          </a:xfrm>
          <a:prstGeom prst="ellipse">
            <a:avLst/>
          </a:prstGeom>
          <a:solidFill>
            <a:srgbClr val="D6E8F5">
              <a:alpha val="70000"/>
            </a:srgbClr>
          </a:solidFill>
          <a:ln w="12700">
            <a:solidFill>
              <a:srgbClr val="D6E8F5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252874" y="3357901"/>
            <a:ext cx="91440" cy="91440"/>
          </a:xfrm>
          <a:prstGeom prst="ellipse">
            <a:avLst/>
          </a:prstGeom>
          <a:solidFill>
            <a:srgbClr val="D6E8F5">
              <a:alpha val="70000"/>
            </a:srgbClr>
          </a:solidFill>
          <a:ln w="12700">
            <a:solidFill>
              <a:srgbClr val="D6E8F5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981658" y="2497686"/>
            <a:ext cx="91440" cy="91440"/>
          </a:xfrm>
          <a:prstGeom prst="ellipse">
            <a:avLst/>
          </a:prstGeom>
          <a:solidFill>
            <a:srgbClr val="D6E8F5">
              <a:alpha val="70000"/>
            </a:srgbClr>
          </a:solidFill>
          <a:ln w="12700">
            <a:solidFill>
              <a:srgbClr val="D6E8F5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573917" y="3668531"/>
            <a:ext cx="91440" cy="91440"/>
          </a:xfrm>
          <a:prstGeom prst="ellipse">
            <a:avLst/>
          </a:prstGeom>
          <a:solidFill>
            <a:srgbClr val="D6E8F5">
              <a:alpha val="70000"/>
            </a:srgbClr>
          </a:solidFill>
          <a:ln w="12700">
            <a:solidFill>
              <a:srgbClr val="D6E8F5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315200" y="2377440"/>
            <a:ext cx="2743200" cy="1005840"/>
          </a:xfrm>
          <a:prstGeom prst="line">
            <a:avLst/>
          </a:prstGeom>
          <a:noFill/>
          <a:ln w="38100">
            <a:solidFill>
              <a:srgbClr val="F28C28"/>
            </a:solidFill>
            <a:prstDash val="solid"/>
            <a:tailEnd type="triangle"/>
          </a:ln>
        </p:spPr>
      </p:sp>
      <p:sp>
        <p:nvSpPr>
          <p:cNvPr id="73" name="Shape 71"/>
          <p:cNvSpPr/>
          <p:nvPr/>
        </p:nvSpPr>
        <p:spPr>
          <a:xfrm flipH="1">
            <a:off x="8138160" y="3383280"/>
            <a:ext cx="1920240" cy="822960"/>
          </a:xfrm>
          <a:prstGeom prst="line">
            <a:avLst/>
          </a:prstGeom>
          <a:noFill/>
          <a:ln w="38100">
            <a:solidFill>
              <a:srgbClr val="F28C28"/>
            </a:solidFill>
            <a:prstDash val="solid"/>
            <a:tailEnd type="triangle"/>
          </a:ln>
        </p:spPr>
      </p:sp>
      <p:sp>
        <p:nvSpPr>
          <p:cNvPr id="74" name="Shape 72"/>
          <p:cNvSpPr/>
          <p:nvPr/>
        </p:nvSpPr>
        <p:spPr>
          <a:xfrm flipH="1" flipV="1">
            <a:off x="5486400" y="3840480"/>
            <a:ext cx="2651760" cy="365760"/>
          </a:xfrm>
          <a:prstGeom prst="line">
            <a:avLst/>
          </a:prstGeom>
          <a:noFill/>
          <a:ln w="38100">
            <a:solidFill>
              <a:srgbClr val="F28C28"/>
            </a:solidFill>
            <a:prstDash val="solid"/>
            <a:tailEnd type="triangle"/>
          </a:ln>
        </p:spPr>
      </p:sp>
      <p:sp>
        <p:nvSpPr>
          <p:cNvPr id="75" name="Shape 73"/>
          <p:cNvSpPr/>
          <p:nvPr/>
        </p:nvSpPr>
        <p:spPr>
          <a:xfrm>
            <a:off x="7086600" y="2148840"/>
            <a:ext cx="457200" cy="4572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7086600" y="21488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</a:t>
            </a:r>
            <a:endParaRPr lang="en-US" sz="1400" dirty="0"/>
          </a:p>
        </p:txBody>
      </p:sp>
      <p:sp>
        <p:nvSpPr>
          <p:cNvPr id="77" name="Text 75"/>
          <p:cNvSpPr txBox="1"/>
          <p:nvPr/>
        </p:nvSpPr>
        <p:spPr>
          <a:xfrm>
            <a:off x="6492240" y="265176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Hyderabad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9829800" y="3154680"/>
            <a:ext cx="457200" cy="457200"/>
          </a:xfrm>
          <a:prstGeom prst="ellipse">
            <a:avLst/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9829800" y="3154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2</a:t>
            </a:r>
            <a:endParaRPr lang="en-US" sz="1400" dirty="0"/>
          </a:p>
        </p:txBody>
      </p:sp>
      <p:sp>
        <p:nvSpPr>
          <p:cNvPr id="80" name="Text 78"/>
          <p:cNvSpPr txBox="1"/>
          <p:nvPr/>
        </p:nvSpPr>
        <p:spPr>
          <a:xfrm>
            <a:off x="9235440" y="365760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Chennai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7909560" y="3977640"/>
            <a:ext cx="457200" cy="457200"/>
          </a:xfrm>
          <a:prstGeom prst="ellipse">
            <a:avLst/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7909560" y="3977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3</a:t>
            </a:r>
            <a:endParaRPr lang="en-US" sz="1400" dirty="0"/>
          </a:p>
        </p:txBody>
      </p:sp>
      <p:sp>
        <p:nvSpPr>
          <p:cNvPr id="83" name="Text 81"/>
          <p:cNvSpPr txBox="1"/>
          <p:nvPr/>
        </p:nvSpPr>
        <p:spPr>
          <a:xfrm>
            <a:off x="7315200" y="448056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Bangalore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5257800" y="3611880"/>
            <a:ext cx="457200" cy="457200"/>
          </a:xfrm>
          <a:prstGeom prst="ellipse">
            <a:avLst/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5257800" y="36118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4</a:t>
            </a:r>
            <a:endParaRPr lang="en-US" sz="1400" dirty="0"/>
          </a:p>
        </p:txBody>
      </p:sp>
      <p:sp>
        <p:nvSpPr>
          <p:cNvPr id="86" name="Text 84"/>
          <p:cNvSpPr txBox="1"/>
          <p:nvPr/>
        </p:nvSpPr>
        <p:spPr>
          <a:xfrm>
            <a:off x="4663440" y="411480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Goa</a:t>
            </a:r>
            <a:endParaRPr lang="en-US" sz="1200" dirty="0"/>
          </a:p>
        </p:txBody>
      </p:sp>
      <p:sp>
        <p:nvSpPr>
          <p:cNvPr id="87" name="Text 85"/>
          <p:cNvSpPr txBox="1"/>
          <p:nvPr/>
        </p:nvSpPr>
        <p:spPr>
          <a:xfrm>
            <a:off x="4480560" y="4892040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6F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Illustrative example: Hyderabad → Chennai → Bangalore → Goa</a:t>
            </a:r>
            <a:endParaRPr lang="en-US" sz="1500" dirty="0"/>
          </a:p>
        </p:txBody>
      </p:sp>
      <p:sp>
        <p:nvSpPr>
          <p:cNvPr id="88" name="Text 86"/>
          <p:cNvSpPr txBox="1"/>
          <p:nvPr/>
        </p:nvSpPr>
        <p:spPr>
          <a:xfrm>
            <a:off x="4480560" y="5257800"/>
            <a:ext cx="6858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Route costs come from OSRM; Bitmask DP selects an optimized visiting order.</a:t>
            </a:r>
            <a:endParaRPr lang="en-US" sz="1200" dirty="0"/>
          </a:p>
        </p:txBody>
      </p:sp>
      <p:sp>
        <p:nvSpPr>
          <p:cNvPr id="89" name="Text 87"/>
          <p:cNvSpPr txBox="1"/>
          <p:nvPr/>
        </p:nvSpPr>
        <p:spPr>
          <a:xfrm>
            <a:off x="4480560" y="5577840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28C2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Illustrative layout only – not an actual computed result.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SOS DP – Travel Preference Matching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978408"/>
            <a:ext cx="822960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TRAVELSYNC  |  DSA Review-1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4652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612648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14173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6F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8 PREFERENCE CATEGORIES (8-BIT MASK)</a:t>
            </a:r>
            <a:endParaRPr lang="en-US" sz="12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34440" y="1874520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Beach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2331720" y="1874520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6F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00000001</a:t>
            </a:r>
            <a:endParaRPr lang="en-US" sz="12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624328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234440" y="2532888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Historical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2331720" y="2532888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6F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00000010</a:t>
            </a:r>
            <a:endParaRPr lang="en-US" sz="12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82696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34440" y="3191256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Adventure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2331720" y="3191256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6F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00000100</a:t>
            </a:r>
            <a:endParaRPr lang="en-US" sz="12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941064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234440" y="3849624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Nature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2331720" y="3849624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6F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00001000</a:t>
            </a:r>
            <a:endParaRPr lang="en-US" sz="12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040" y="1965960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4160520" y="1874520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Food</a:t>
            </a:r>
            <a:endParaRPr lang="en-US" sz="1200" dirty="0"/>
          </a:p>
        </p:txBody>
      </p:sp>
      <p:sp>
        <p:nvSpPr>
          <p:cNvPr id="23" name="Text 16"/>
          <p:cNvSpPr txBox="1"/>
          <p:nvPr/>
        </p:nvSpPr>
        <p:spPr>
          <a:xfrm>
            <a:off x="5257800" y="1874520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6F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00010000</a:t>
            </a:r>
            <a:endParaRPr lang="en-US" sz="12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9040" y="2624328"/>
            <a:ext cx="274320" cy="27432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4160520" y="2532888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Nightlife</a:t>
            </a:r>
            <a:endParaRPr lang="en-US" sz="1200" dirty="0"/>
          </a:p>
        </p:txBody>
      </p:sp>
      <p:sp>
        <p:nvSpPr>
          <p:cNvPr id="26" name="Text 18"/>
          <p:cNvSpPr txBox="1"/>
          <p:nvPr/>
        </p:nvSpPr>
        <p:spPr>
          <a:xfrm>
            <a:off x="5257800" y="2532888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6F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00100000</a:t>
            </a:r>
            <a:endParaRPr lang="en-US" sz="120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49040" y="3282696"/>
            <a:ext cx="274320" cy="27432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4160520" y="3191256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Relaxation</a:t>
            </a:r>
            <a:endParaRPr lang="en-US" sz="1200" dirty="0"/>
          </a:p>
        </p:txBody>
      </p:sp>
      <p:sp>
        <p:nvSpPr>
          <p:cNvPr id="29" name="Text 20"/>
          <p:cNvSpPr txBox="1"/>
          <p:nvPr/>
        </p:nvSpPr>
        <p:spPr>
          <a:xfrm>
            <a:off x="5257800" y="3191256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6F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01000000</a:t>
            </a:r>
            <a:endParaRPr lang="en-US" sz="1200" dirty="0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49040" y="3941064"/>
            <a:ext cx="274320" cy="274320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4160520" y="3849624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Shopping</a:t>
            </a:r>
            <a:endParaRPr lang="en-US" sz="1200" dirty="0"/>
          </a:p>
        </p:txBody>
      </p:sp>
      <p:sp>
        <p:nvSpPr>
          <p:cNvPr id="32" name="Text 22"/>
          <p:cNvSpPr txBox="1"/>
          <p:nvPr/>
        </p:nvSpPr>
        <p:spPr>
          <a:xfrm>
            <a:off x="5257800" y="3849624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6F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10000000</a:t>
            </a:r>
            <a:endParaRPr lang="en-US" sz="1200" dirty="0"/>
          </a:p>
        </p:txBody>
      </p:sp>
      <p:sp>
        <p:nvSpPr>
          <p:cNvPr id="33" name="Shape 23"/>
          <p:cNvSpPr/>
          <p:nvPr/>
        </p:nvSpPr>
        <p:spPr>
          <a:xfrm>
            <a:off x="6949440" y="1325880"/>
            <a:ext cx="4663440" cy="3291840"/>
          </a:xfrm>
          <a:prstGeom prst="roundRect">
            <a:avLst>
              <a:gd name="adj" fmla="val 4167"/>
            </a:avLst>
          </a:prstGeom>
          <a:solidFill>
            <a:srgbClr val="0B1F3A"/>
          </a:solidFill>
          <a:ln w="9525">
            <a:solidFill>
              <a:srgbClr val="0B1F3A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34" name="Text 24"/>
          <p:cNvSpPr txBox="1"/>
          <p:nvPr/>
        </p:nvSpPr>
        <p:spPr>
          <a:xfrm>
            <a:off x="7223760" y="14173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28C2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ILLUSTRATIVE EXAMPLE</a:t>
            </a:r>
            <a:endParaRPr lang="en-US" sz="1200" dirty="0"/>
          </a:p>
        </p:txBody>
      </p:sp>
      <p:sp>
        <p:nvSpPr>
          <p:cNvPr id="35" name="Text 25"/>
          <p:cNvSpPr txBox="1"/>
          <p:nvPr/>
        </p:nvSpPr>
        <p:spPr>
          <a:xfrm>
            <a:off x="7223760" y="201168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Beach + Nightlife + Relaxation</a:t>
            </a:r>
            <a:endParaRPr lang="en-US" sz="1600" dirty="0"/>
          </a:p>
        </p:txBody>
      </p:sp>
      <p:sp>
        <p:nvSpPr>
          <p:cNvPr id="36" name="Text 26"/>
          <p:cNvSpPr txBox="1"/>
          <p:nvPr/>
        </p:nvSpPr>
        <p:spPr>
          <a:xfrm>
            <a:off x="7223760" y="2606040"/>
            <a:ext cx="420624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28C2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00000001 + 00100000 + 01000000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F28C2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 01100001</a:t>
            </a:r>
            <a:endParaRPr lang="en-US" sz="1500" dirty="0"/>
          </a:p>
        </p:txBody>
      </p:sp>
      <p:sp>
        <p:nvSpPr>
          <p:cNvPr id="37" name="Text 27"/>
          <p:cNvSpPr txBox="1"/>
          <p:nvPr/>
        </p:nvSpPr>
        <p:spPr>
          <a:xfrm>
            <a:off x="7223760" y="3657600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8F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Bits 0, 5 and 6 are set (1 + 32 + 64 = 97).</a:t>
            </a:r>
            <a:endParaRPr lang="en-US" sz="1200" dirty="0"/>
          </a:p>
        </p:txBody>
      </p:sp>
      <p:sp>
        <p:nvSpPr>
          <p:cNvPr id="38" name="Shape 28"/>
          <p:cNvSpPr/>
          <p:nvPr/>
        </p:nvSpPr>
        <p:spPr>
          <a:xfrm>
            <a:off x="548640" y="5029200"/>
            <a:ext cx="3200400" cy="822960"/>
          </a:xfrm>
          <a:prstGeom prst="roundRect">
            <a:avLst>
              <a:gd name="adj" fmla="val 13333"/>
            </a:avLst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39" name="Text 29"/>
          <p:cNvSpPr txBox="1"/>
          <p:nvPr/>
        </p:nvSpPr>
        <p:spPr>
          <a:xfrm>
            <a:off x="548640" y="502920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Preference Mask</a:t>
            </a:r>
            <a:endParaRPr lang="en-US" sz="1300" dirty="0"/>
          </a:p>
        </p:txBody>
      </p:sp>
      <p:sp>
        <p:nvSpPr>
          <p:cNvPr id="40" name="Shape 30"/>
          <p:cNvSpPr/>
          <p:nvPr/>
        </p:nvSpPr>
        <p:spPr>
          <a:xfrm>
            <a:off x="3840480" y="5303520"/>
            <a:ext cx="548640" cy="274320"/>
          </a:xfrm>
          <a:prstGeom prst="rightArrow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41" name="Shape 31"/>
          <p:cNvSpPr/>
          <p:nvPr/>
        </p:nvSpPr>
        <p:spPr>
          <a:xfrm>
            <a:off x="4480560" y="5029200"/>
            <a:ext cx="3200400" cy="822960"/>
          </a:xfrm>
          <a:prstGeom prst="roundRect">
            <a:avLst>
              <a:gd name="adj" fmla="val 13333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42" name="Text 32"/>
          <p:cNvSpPr txBox="1"/>
          <p:nvPr/>
        </p:nvSpPr>
        <p:spPr>
          <a:xfrm>
            <a:off x="4480560" y="502920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SOS DP (subset sums over 2⁸ masks)</a:t>
            </a:r>
            <a:endParaRPr lang="en-US" sz="1300" dirty="0"/>
          </a:p>
        </p:txBody>
      </p:sp>
      <p:sp>
        <p:nvSpPr>
          <p:cNvPr id="43" name="Shape 33"/>
          <p:cNvSpPr/>
          <p:nvPr/>
        </p:nvSpPr>
        <p:spPr>
          <a:xfrm>
            <a:off x="7772400" y="5303520"/>
            <a:ext cx="548640" cy="274320"/>
          </a:xfrm>
          <a:prstGeom prst="rightArrow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44" name="Shape 34"/>
          <p:cNvSpPr/>
          <p:nvPr/>
        </p:nvSpPr>
        <p:spPr>
          <a:xfrm>
            <a:off x="8412480" y="5029200"/>
            <a:ext cx="3200400" cy="82296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45" name="Text 35"/>
          <p:cNvSpPr txBox="1"/>
          <p:nvPr/>
        </p:nvSpPr>
        <p:spPr>
          <a:xfrm>
            <a:off x="8412480" y="502920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Ranked Recommendations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ounded Rectangle 55"/>
          <p:cNvSpPr/>
          <p:nvPr/>
        </p:nvSpPr>
        <p:spPr>
          <a:xfrm>
            <a:off x="5118100" y="5765800"/>
            <a:ext cx="6489700" cy="53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C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Algorithm Testing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978408"/>
            <a:ext cx="822960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TRAVELSYNC  |  DSA Review-1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4652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4206240" cy="4663440"/>
          </a:xfrm>
          <a:prstGeom prst="roundRect">
            <a:avLst>
              <a:gd name="adj" fmla="val 3261"/>
            </a:avLst>
          </a:prstGeom>
          <a:solidFill>
            <a:srgbClr val="0B1F3A"/>
          </a:solidFill>
          <a:ln w="9525">
            <a:solidFill>
              <a:srgbClr val="0B1F3A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0" y="1645920"/>
            <a:ext cx="1463040" cy="14630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2103120"/>
            <a:ext cx="548640" cy="5486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31520" y="3474720"/>
            <a:ext cx="38404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23 AUTOMATED</a:t>
            </a:r>
            <a:endParaRPr lang="en-US" sz="2200" b="1" dirty="0">
              <a:solidFill>
                <a:srgbClr val="FFFFFF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JAVA TESTS PASSED</a:t>
            </a:r>
            <a:endParaRPr lang="en-US" sz="2200" b="1" dirty="0">
              <a:solidFill>
                <a:srgbClr val="FFFFFF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731520" y="461772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8C2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0 failures</a:t>
            </a:r>
            <a:endParaRPr lang="en-US" sz="1600" b="1" dirty="0">
              <a:solidFill>
                <a:srgbClr val="F28C28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731520" y="507492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8F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Full backend suite: 14 DSA tests plus 9 flow/API tests.</a:t>
            </a:r>
            <a:endParaRPr lang="en-US" sz="1100" dirty="0">
              <a:solidFill>
                <a:srgbClr val="D6E8F5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5120640" y="1325880"/>
            <a:ext cx="3108960" cy="5486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5349240" y="132588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Naïve Search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7589520" y="1325880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4B8A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120640" y="1965960"/>
            <a:ext cx="3108960" cy="5486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5349240" y="196596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KMP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7589520" y="1965960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4B8A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120640" y="2606040"/>
            <a:ext cx="3108960" cy="5486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5349240" y="260604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Z-Function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7589520" y="2606040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4B8A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120640" y="3246120"/>
            <a:ext cx="3108960" cy="5486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5349240" y="324612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Rabin–Karp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7589520" y="3246120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4B8A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✓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5120640" y="3886200"/>
            <a:ext cx="3108960" cy="5486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5349240" y="388620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Aho–Corasick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7589520" y="3886200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4B8A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✓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120640" y="4526280"/>
            <a:ext cx="3108960" cy="5486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5349240" y="452628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Edit Distance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7589520" y="4526280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4B8A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✓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5120640" y="5166360"/>
            <a:ext cx="3108960" cy="5486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5349240" y="516636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Suffix Array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7589520" y="5166360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4B8A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✓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8412480" y="1325880"/>
            <a:ext cx="3108960" cy="5486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35" name="Text 32"/>
          <p:cNvSpPr txBox="1"/>
          <p:nvPr/>
        </p:nvSpPr>
        <p:spPr>
          <a:xfrm>
            <a:off x="8641080" y="132588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LCP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10881360" y="1325880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4B8A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✓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8412480" y="1965960"/>
            <a:ext cx="3108960" cy="5486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38" name="Text 35"/>
          <p:cNvSpPr txBox="1"/>
          <p:nvPr/>
        </p:nvSpPr>
        <p:spPr>
          <a:xfrm>
            <a:off x="8641080" y="196596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Needleman–Wunsch</a:t>
            </a:r>
            <a:endParaRPr 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10881360" y="1965960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4B8A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✓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8412480" y="2606040"/>
            <a:ext cx="3108960" cy="5486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641080" y="260604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Smith–Waterman</a:t>
            </a:r>
            <a:endParaRPr lang="en-US" sz="1300" dirty="0"/>
          </a:p>
        </p:txBody>
      </p:sp>
      <p:sp>
        <p:nvSpPr>
          <p:cNvPr id="42" name="Text 39"/>
          <p:cNvSpPr txBox="1"/>
          <p:nvPr/>
        </p:nvSpPr>
        <p:spPr>
          <a:xfrm>
            <a:off x="10881360" y="2606040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4B8A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✓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8412480" y="3246120"/>
            <a:ext cx="3108960" cy="5486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44" name="Text 41"/>
          <p:cNvSpPr txBox="1"/>
          <p:nvPr/>
        </p:nvSpPr>
        <p:spPr>
          <a:xfrm>
            <a:off x="8641080" y="324612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Bitmask DP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10881360" y="3246120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4B8A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✓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8412480" y="3886200"/>
            <a:ext cx="3108960" cy="5486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47" name="Text 44"/>
          <p:cNvSpPr txBox="1"/>
          <p:nvPr/>
        </p:nvSpPr>
        <p:spPr>
          <a:xfrm>
            <a:off x="8641080" y="388620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Interval DP</a:t>
            </a:r>
            <a:endParaRPr lang="en-US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10881360" y="3886200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4B8A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✓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8412480" y="4526280"/>
            <a:ext cx="3108960" cy="5486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50" name="Text 47"/>
          <p:cNvSpPr txBox="1"/>
          <p:nvPr/>
        </p:nvSpPr>
        <p:spPr>
          <a:xfrm>
            <a:off x="8641080" y="452628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Tree DP</a:t>
            </a:r>
            <a:endParaRPr lang="en-US" sz="1300" dirty="0"/>
          </a:p>
        </p:txBody>
      </p:sp>
      <p:sp>
        <p:nvSpPr>
          <p:cNvPr id="51" name="Text 48"/>
          <p:cNvSpPr txBox="1"/>
          <p:nvPr/>
        </p:nvSpPr>
        <p:spPr>
          <a:xfrm>
            <a:off x="10881360" y="4526280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4B8A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✓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8412480" y="5166360"/>
            <a:ext cx="3108960" cy="5486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53" name="Text 50"/>
          <p:cNvSpPr txBox="1"/>
          <p:nvPr/>
        </p:nvSpPr>
        <p:spPr>
          <a:xfrm>
            <a:off x="8641080" y="516636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SOS DP</a:t>
            </a:r>
            <a:endParaRPr lang="en-US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10881360" y="5166360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4B8A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✓</a:t>
            </a:r>
            <a:endParaRPr lang="en-US" sz="1600" dirty="0"/>
          </a:p>
        </p:txBody>
      </p:sp>
      <p:sp>
        <p:nvSpPr>
          <p:cNvPr id="55" name="Text 52"/>
          <p:cNvSpPr txBox="1"/>
          <p:nvPr/>
        </p:nvSpPr>
        <p:spPr>
          <a:xfrm>
            <a:off x="5334000" y="5842000"/>
            <a:ext cx="6096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Edmonds–Karp · Maximum-flow activity allocation ✓</a:t>
            </a:r>
            <a:endParaRPr lang="en-US" sz="1200" b="1" dirty="0">
              <a:solidFill>
                <a:srgbClr val="0B1F3A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Algorithmic Complexity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978408"/>
            <a:ext cx="822960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TRAVELSYNC  |  DSA Review-1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4652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15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/>
        </p:nvGraphicFramePr>
        <p:xfrm>
          <a:off x="548640" y="1280160"/>
          <a:ext cx="5440680" cy="3803904"/>
        </p:xfrm>
        <a:graphic>
          <a:graphicData uri="http://schemas.openxmlformats.org/drawingml/2006/table">
            <a:tbl>
              <a:tblPr/>
              <a:tblGrid>
                <a:gridCol w="2240280"/>
                <a:gridCol w="3200400"/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Algorithm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Time Complexity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</a:rPr>
                        <a:t>Naïve Search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6FB8"/>
                          </a:solidFill>
                        </a:rPr>
                        <a:t>O(nm)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</a:rPr>
                        <a:t>KMP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6FB8"/>
                          </a:solidFill>
                        </a:rPr>
                        <a:t>O(n + m)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</a:rPr>
                        <a:t>Z-Function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6FB8"/>
                          </a:solidFill>
                        </a:rPr>
                        <a:t>O(n + m)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</a:rPr>
                        <a:t>Rabin–Karp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6FB8"/>
                          </a:solidFill>
                        </a:rPr>
                        <a:t>avg O(n + m); worst O(nm)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</a:rPr>
                        <a:t>Aho–Corasick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6FB8"/>
                          </a:solidFill>
                        </a:rPr>
                        <a:t>O(total pattern length + n + matches)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</a:rPr>
                        <a:t>Edit Distance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6FB8"/>
                          </a:solidFill>
                        </a:rPr>
                        <a:t>O(nm)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</a:rPr>
                        <a:t>Suffix Array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6FB8"/>
                          </a:solidFill>
                        </a:rPr>
                        <a:t>O(n log² n)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Table 1"/>
          <p:cNvGraphicFramePr>
            <a:graphicFrameLocks noGrp="1"/>
          </p:cNvGraphicFramePr>
          <p:nvPr/>
        </p:nvGraphicFramePr>
        <p:xfrm>
          <a:off x="6172200" y="1280160"/>
          <a:ext cx="5440680" cy="3803904"/>
        </p:xfrm>
        <a:graphic>
          <a:graphicData uri="http://schemas.openxmlformats.org/drawingml/2006/table">
            <a:tbl>
              <a:tblPr/>
              <a:tblGrid>
                <a:gridCol w="2240280"/>
                <a:gridCol w="3200400"/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Algorithm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Time Complexity</a:t>
                      </a:r>
                      <a:endParaRPr lang="en-US" sz="12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</a:rPr>
                        <a:t>LCP (Kasai)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6FB8"/>
                          </a:solidFill>
                        </a:rPr>
                        <a:t>O(n)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</a:rPr>
                        <a:t>Needleman–Wunsch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6FB8"/>
                          </a:solidFill>
                        </a:rPr>
                        <a:t>O(nm)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</a:rPr>
                        <a:t>Smith–Waterman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6FB8"/>
                          </a:solidFill>
                        </a:rPr>
                        <a:t>O(nm)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</a:rPr>
                        <a:t>Bitmask DP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6FB8"/>
                          </a:solidFill>
                        </a:rPr>
                        <a:t>O(n² · 2ⁿ)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</a:rPr>
                        <a:t>Interval DP (scheduling)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6FB8"/>
                          </a:solidFill>
                        </a:rPr>
                        <a:t>O(n log n)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</a:rPr>
                        <a:t>Tree DP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6FB8"/>
                          </a:solidFill>
                        </a:rPr>
                        <a:t>O(N · B²) time; O(N · B) space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</a:rPr>
                        <a:t>SOS DP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D6FB8"/>
                          </a:solidFill>
                        </a:rPr>
                        <a:t>O(k · 2ᵏ)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5349240"/>
            <a:ext cx="1106424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777240" y="5394960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28C2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Variables: n, m = text/pattern (or compared string) lengths; n alone = Suffix Array/LCP string length. Bitmask: n destinations; Interval: n activities. Tree: N nodes, B budget. SOS: k preference bits. Network Flow: O(V · E²), where V = vertices and E = edges.</a:t>
            </a:r>
            <a:endParaRPr lang="en-US" sz="1100" b="1" dirty="0">
              <a:solidFill>
                <a:srgbClr val="F28C28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546100" y="317500"/>
            <a:ext cx="10515600" cy="487045"/>
          </a:xfrm>
          <a:prstGeom prst="rect">
            <a:avLst/>
          </a:prstGeom>
          <a:noFill/>
        </p:spPr>
        <p:txBody>
          <a:bodyPr wrap="square" lIns="25400" tIns="12700" rIns="25400" bIns="12700" rtlCol="0" anchor="t">
            <a:spAutoFit/>
          </a:bodyPr>
          <a:p>
            <a:r>
              <a:rPr lang="en-US" sz="3000" b="1">
                <a:solidFill>
                  <a:srgbClr val="383B2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Network Flow: Activity Allocation</a:t>
            </a:r>
            <a:endParaRPr lang="en-US" sz="3000" b="1">
              <a:solidFill>
                <a:srgbClr val="383B2B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46100" y="6451600"/>
            <a:ext cx="4572000" cy="163830"/>
          </a:xfrm>
          <a:prstGeom prst="rect">
            <a:avLst/>
          </a:prstGeom>
          <a:noFill/>
        </p:spPr>
        <p:txBody>
          <a:bodyPr wrap="square" lIns="25400" tIns="12700" rIns="25400" bIns="12700" rtlCol="0" anchor="t">
            <a:spAutoFit/>
          </a:bodyPr>
          <a:p>
            <a:r>
              <a:rPr lang="en-US" sz="900">
                <a:solidFill>
                  <a:srgbClr val="53505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TRAVELSYNC  |  DSA Review-1</a:t>
            </a:r>
            <a:endParaRPr lang="en-US" sz="900">
              <a:solidFill>
                <a:srgbClr val="53505B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1150600" y="6451600"/>
            <a:ext cx="546100" cy="163830"/>
          </a:xfrm>
          <a:prstGeom prst="rect">
            <a:avLst/>
          </a:prstGeom>
          <a:noFill/>
        </p:spPr>
        <p:txBody>
          <a:bodyPr wrap="square" lIns="25400" tIns="12700" rIns="25400" bIns="12700" rtlCol="0" anchor="t">
            <a:spAutoFit/>
          </a:bodyPr>
          <a:p>
            <a:r>
              <a:rPr lang="en-US" sz="900">
                <a:solidFill>
                  <a:srgbClr val="53505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16</a:t>
            </a:r>
            <a:endParaRPr lang="en-US" sz="900">
              <a:solidFill>
                <a:srgbClr val="53505B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571500" y="1117600"/>
            <a:ext cx="11049000" cy="255905"/>
          </a:xfrm>
          <a:prstGeom prst="rect">
            <a:avLst/>
          </a:prstGeom>
          <a:noFill/>
        </p:spPr>
        <p:txBody>
          <a:bodyPr wrap="square" lIns="25400" tIns="12700" rIns="25400" bIns="12700" rtlCol="0" anchor="t">
            <a:spAutoFit/>
          </a:bodyPr>
          <a:p>
            <a:r>
              <a:rPr lang="en-US" sz="1500">
                <a:solidFill>
                  <a:srgbClr val="53505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TravelSync uses maximum flow to assign travelers to activities they are interested in while respecting available seats.</a:t>
            </a:r>
            <a:endParaRPr lang="en-US" sz="1500">
              <a:solidFill>
                <a:srgbClr val="53505B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71500" y="1917700"/>
            <a:ext cx="2286000" cy="1257300"/>
          </a:xfrm>
          <a:prstGeom prst="roundRect">
            <a:avLst/>
          </a:prstGeom>
          <a:solidFill>
            <a:srgbClr val="EFF7EF"/>
          </a:solidFill>
          <a:ln>
            <a:solidFill>
              <a:srgbClr val="DEE5D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14300" tIns="101600" rIns="114300" bIns="76200" rtlCol="0" anchor="ctr"/>
          <a:p>
            <a:pPr algn="ctr"/>
            <a:r>
              <a:rPr lang="en-US" sz="1300" b="1">
                <a:solidFill>
                  <a:srgbClr val="38845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SOURCE</a:t>
            </a:r>
            <a:endParaRPr lang="en-US" sz="1300" b="1">
              <a:solidFill>
                <a:srgbClr val="388459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1100">
                <a:solidFill>
                  <a:srgbClr val="383B2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Start of the network</a:t>
            </a:r>
            <a:endParaRPr lang="en-US" sz="1100">
              <a:solidFill>
                <a:srgbClr val="383B2B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429000" y="1917700"/>
            <a:ext cx="2349500" cy="1257300"/>
          </a:xfrm>
          <a:prstGeom prst="roundRect">
            <a:avLst/>
          </a:prstGeom>
          <a:solidFill>
            <a:srgbClr val="F0F6FA"/>
          </a:solidFill>
          <a:ln>
            <a:solidFill>
              <a:srgbClr val="DEE5D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14300" tIns="101600" rIns="114300" bIns="76200" rtlCol="0" anchor="ctr"/>
          <a:p>
            <a:pPr algn="ctr"/>
            <a:r>
              <a:rPr lang="en-US" sz="1300" b="1">
                <a:solidFill>
                  <a:srgbClr val="38845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TRAVELERS</a:t>
            </a:r>
            <a:endParaRPr lang="en-US" sz="1300" b="1">
              <a:solidFill>
                <a:srgbClr val="388459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1100">
                <a:solidFill>
                  <a:srgbClr val="383B2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One node per person</a:t>
            </a:r>
            <a:endParaRPr lang="en-US" sz="1100">
              <a:solidFill>
                <a:srgbClr val="383B2B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1100">
                <a:solidFill>
                  <a:srgbClr val="383B2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Source edge capacity = 1</a:t>
            </a:r>
            <a:endParaRPr lang="en-US" sz="1100">
              <a:solidFill>
                <a:srgbClr val="383B2B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350000" y="1917700"/>
            <a:ext cx="2603500" cy="1257300"/>
          </a:xfrm>
          <a:prstGeom prst="roundRect">
            <a:avLst/>
          </a:prstGeom>
          <a:solidFill>
            <a:srgbClr val="FAF6EB"/>
          </a:solidFill>
          <a:ln>
            <a:solidFill>
              <a:srgbClr val="DEE5D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14300" tIns="101600" rIns="114300" bIns="76200" rtlCol="0" anchor="ctr"/>
          <a:p>
            <a:pPr algn="ctr"/>
            <a:r>
              <a:rPr lang="en-US" sz="1300" b="1">
                <a:solidFill>
                  <a:srgbClr val="38845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ELIGIBLE ACTIVITIES</a:t>
            </a:r>
            <a:endParaRPr lang="en-US" sz="1300" b="1">
              <a:solidFill>
                <a:srgbClr val="388459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1100">
                <a:solidFill>
                  <a:srgbClr val="383B2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Connect only matching interests</a:t>
            </a:r>
            <a:endParaRPr lang="en-US" sz="1100">
              <a:solidFill>
                <a:srgbClr val="383B2B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1100">
                <a:solidFill>
                  <a:srgbClr val="383B2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Each match edge capacity = 1</a:t>
            </a:r>
            <a:endParaRPr lang="en-US" sz="1100">
              <a:solidFill>
                <a:srgbClr val="383B2B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525000" y="1917700"/>
            <a:ext cx="2095500" cy="1257300"/>
          </a:xfrm>
          <a:prstGeom prst="roundRect">
            <a:avLst/>
          </a:prstGeom>
          <a:solidFill>
            <a:srgbClr val="EFF7EF"/>
          </a:solidFill>
          <a:ln>
            <a:solidFill>
              <a:srgbClr val="DEE5D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14300" tIns="101600" rIns="114300" bIns="76200" rtlCol="0" anchor="ctr"/>
          <a:p>
            <a:pPr algn="ctr"/>
            <a:r>
              <a:rPr lang="en-US" sz="1300" b="1">
                <a:solidFill>
                  <a:srgbClr val="38845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SINK</a:t>
            </a:r>
            <a:endParaRPr lang="en-US" sz="1300" b="1">
              <a:solidFill>
                <a:srgbClr val="388459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1100">
                <a:solidFill>
                  <a:srgbClr val="383B2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Activity seat limits</a:t>
            </a:r>
            <a:endParaRPr lang="en-US" sz="1100">
              <a:solidFill>
                <a:srgbClr val="383B2B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1100">
                <a:solidFill>
                  <a:srgbClr val="383B2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Capacity = available seats</a:t>
            </a:r>
            <a:endParaRPr lang="en-US" sz="1100">
              <a:solidFill>
                <a:srgbClr val="383B2B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2857500" y="2540000"/>
            <a:ext cx="469900" cy="635"/>
          </a:xfrm>
          <a:prstGeom prst="line">
            <a:avLst/>
          </a:prstGeom>
          <a:ln w="25400">
            <a:solidFill>
              <a:srgbClr val="388459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5778500" y="2540000"/>
            <a:ext cx="469900" cy="635"/>
          </a:xfrm>
          <a:prstGeom prst="line">
            <a:avLst/>
          </a:prstGeom>
          <a:ln w="25400">
            <a:solidFill>
              <a:srgbClr val="388459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8953500" y="2540000"/>
            <a:ext cx="469900" cy="635"/>
          </a:xfrm>
          <a:prstGeom prst="line">
            <a:avLst/>
          </a:prstGeom>
          <a:ln w="25400">
            <a:solidFill>
              <a:srgbClr val="388459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71500" y="3556000"/>
            <a:ext cx="3492500" cy="1625600"/>
          </a:xfrm>
          <a:prstGeom prst="roundRect">
            <a:avLst/>
          </a:prstGeom>
          <a:solidFill>
            <a:srgbClr val="F0F6FA"/>
          </a:solidFill>
          <a:ln>
            <a:solidFill>
              <a:srgbClr val="DEE5D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14300" tIns="101600" rIns="114300" bIns="76200" rtlCol="0" anchor="ctr"/>
          <a:p>
            <a:pPr algn="ctr"/>
            <a:r>
              <a:rPr lang="en-US" sz="1300" b="1">
                <a:solidFill>
                  <a:srgbClr val="38845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 · SEARCH</a:t>
            </a:r>
            <a:endParaRPr lang="en-US" sz="1300" b="1">
              <a:solidFill>
                <a:srgbClr val="388459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1100">
                <a:solidFill>
                  <a:srgbClr val="383B2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Breadth-first search finds a shortest augmenting path in the residual graph.</a:t>
            </a:r>
            <a:endParaRPr lang="en-US" sz="1100">
              <a:solidFill>
                <a:srgbClr val="383B2B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356100" y="3556000"/>
            <a:ext cx="3492500" cy="1625600"/>
          </a:xfrm>
          <a:prstGeom prst="roundRect">
            <a:avLst/>
          </a:prstGeom>
          <a:solidFill>
            <a:srgbClr val="FAF6EB"/>
          </a:solidFill>
          <a:ln>
            <a:solidFill>
              <a:srgbClr val="DEE5D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14300" tIns="101600" rIns="114300" bIns="76200" rtlCol="0" anchor="ctr"/>
          <a:p>
            <a:pPr algn="ctr"/>
            <a:r>
              <a:rPr lang="en-US" sz="1300" b="1">
                <a:solidFill>
                  <a:srgbClr val="38845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 · AUGMENT</a:t>
            </a:r>
            <a:endParaRPr lang="en-US" sz="1300" b="1">
              <a:solidFill>
                <a:srgbClr val="388459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1100">
                <a:solidFill>
                  <a:srgbClr val="383B2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Send flow along the path. Reverse residual edges can reroute earlier assignments.</a:t>
            </a:r>
            <a:endParaRPr lang="en-US" sz="1100">
              <a:solidFill>
                <a:srgbClr val="383B2B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140700" y="3556000"/>
            <a:ext cx="3479800" cy="1625600"/>
          </a:xfrm>
          <a:prstGeom prst="roundRect">
            <a:avLst/>
          </a:prstGeom>
          <a:solidFill>
            <a:srgbClr val="EFF7EF"/>
          </a:solidFill>
          <a:ln>
            <a:solidFill>
              <a:srgbClr val="DEE5D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114300" tIns="101600" rIns="114300" bIns="76200" rtlCol="0" anchor="ctr"/>
          <a:p>
            <a:pPr algn="ctr"/>
            <a:r>
              <a:rPr lang="en-US" sz="1300" b="1">
                <a:solidFill>
                  <a:srgbClr val="38845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 · MAXIMIZE</a:t>
            </a:r>
            <a:endParaRPr lang="en-US" sz="1300" b="1">
              <a:solidFill>
                <a:srgbClr val="388459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1100">
                <a:solidFill>
                  <a:srgbClr val="383B2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Stop when no path remains. The flow value is the maximum travelers assigned.</a:t>
            </a:r>
            <a:endParaRPr lang="en-US" sz="1100">
              <a:solidFill>
                <a:srgbClr val="383B2B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609600" y="5372100"/>
            <a:ext cx="10985500" cy="394335"/>
          </a:xfrm>
          <a:prstGeom prst="rect">
            <a:avLst/>
          </a:prstGeom>
          <a:noFill/>
        </p:spPr>
        <p:txBody>
          <a:bodyPr wrap="square" lIns="25400" tIns="12700" rIns="25400" bIns="12700" rtlCol="0" anchor="t">
            <a:spAutoFit/>
          </a:bodyPr>
          <a:p>
            <a:r>
              <a:rPr lang="en-US" sz="1200">
                <a:solidFill>
                  <a:srgbClr val="53505B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Unassigned travelers are shown in the planner. Edmonds–Karp complexity: O(V · E²), with V vertices and E edges. Evaluated by backend engine, service and API tests.</a:t>
            </a:r>
            <a:endParaRPr lang="en-US" sz="1200">
              <a:solidFill>
                <a:srgbClr val="53505B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978408"/>
            <a:ext cx="822960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TRAVELSYNC  |  DSA Review-1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4652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17</a:t>
            </a:r>
            <a:endParaRPr lang="en-US" sz="900" dirty="0">
              <a:solidFill>
                <a:srgbClr val="5B6B7F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539496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14173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D6FB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828800"/>
            <a:ext cx="4846320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TravelSync combines a React web interface, external travel-data services and a Java Spring Boot backend with DSA-powered features for search, text comparison, route ordering, activity scheduling, capacity-constrained activity allocation and recommendations.</a:t>
            </a:r>
            <a:endParaRPr lang="en-US" sz="1300" dirty="0">
              <a:solidFill>
                <a:srgbClr val="0B1F3A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572000"/>
            <a:ext cx="2286000" cy="1097280"/>
          </a:xfrm>
          <a:prstGeom prst="roundRect">
            <a:avLst>
              <a:gd name="adj" fmla="val 10000"/>
            </a:avLst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48640" y="4572000"/>
            <a:ext cx="22860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Implemented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TravelSync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926080" y="4983480"/>
            <a:ext cx="457200" cy="274320"/>
          </a:xfrm>
          <a:prstGeom prst="rightArrow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0" y="4572000"/>
            <a:ext cx="2468880" cy="109728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474720" y="4572000"/>
            <a:ext cx="24688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Future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Enhancements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1325880"/>
            <a:ext cx="5303520" cy="21945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583680" y="14173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B8A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IMPLEMENTED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83680" y="1947672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49440" y="1874520"/>
            <a:ext cx="4480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React + Vite web interface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83680" y="2331720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49440" y="2258568"/>
            <a:ext cx="4480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External API integrations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83680" y="2715768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49440" y="2642616"/>
            <a:ext cx="4480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Preference-based recommendations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583680" y="3099816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49440" y="3026664"/>
            <a:ext cx="4480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15 DSA engines · 23 passing Java tests</a:t>
            </a:r>
            <a:endParaRPr lang="en-US" sz="1200" b="1" dirty="0">
              <a:solidFill>
                <a:srgbClr val="0B1F3A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309360" y="3703320"/>
            <a:ext cx="5303520" cy="25146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6E8F5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583680" y="37947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28C2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583680" y="4325112"/>
            <a:ext cx="201168" cy="2011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949440" y="4251960"/>
            <a:ext cx="4480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Persistent database storage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583680" y="4709160"/>
            <a:ext cx="201168" cy="2011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949440" y="4636008"/>
            <a:ext cx="4480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Broader live datasets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583680" y="5093208"/>
            <a:ext cx="201168" cy="2011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949440" y="5020056"/>
            <a:ext cx="4480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More robust recommendation personalization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583680" y="5477256"/>
            <a:ext cx="201168" cy="2011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949440" y="5404104"/>
            <a:ext cx="4480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583680" y="5861304"/>
            <a:ext cx="201168" cy="2011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949440" y="5788152"/>
            <a:ext cx="4480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F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Additional real-world performance evaluation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7525775" y="5781293"/>
            <a:ext cx="377962" cy="421275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 flipV="1">
            <a:off x="7231329" y="4486363"/>
            <a:ext cx="672408" cy="1716205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7903737" y="5406466"/>
            <a:ext cx="1415925" cy="796102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 flipV="1">
            <a:off x="7337263" y="4602545"/>
            <a:ext cx="566474" cy="1600024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7903737" y="5598201"/>
            <a:ext cx="1436882" cy="604367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 flipV="1">
            <a:off x="6172514" y="6058870"/>
            <a:ext cx="1731223" cy="143698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7903737" y="4923749"/>
            <a:ext cx="397251" cy="1278819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7903737" y="4673453"/>
            <a:ext cx="347517" cy="1529115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2369432" y="713758"/>
            <a:ext cx="1249725" cy="1531879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9157" y="713758"/>
            <a:ext cx="1371716" cy="505413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3619157" y="452173"/>
            <a:ext cx="530815" cy="261585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75337" y="5208558"/>
            <a:ext cx="349185" cy="362714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H="1">
            <a:off x="1429896" y="5208558"/>
            <a:ext cx="1345441" cy="144404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75337" y="5208558"/>
            <a:ext cx="915450" cy="869009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H="1" flipV="1">
            <a:off x="2492569" y="3440436"/>
            <a:ext cx="282768" cy="1768122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75337" y="5208558"/>
            <a:ext cx="1567839" cy="457259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69432" y="2245636"/>
            <a:ext cx="1254105" cy="862424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H="1" flipV="1">
            <a:off x="473469" y="2164262"/>
            <a:ext cx="1895963" cy="81374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H="1">
            <a:off x="758635" y="2245636"/>
            <a:ext cx="1610797" cy="548628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69432" y="2245636"/>
            <a:ext cx="123137" cy="1194800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69432" y="2245636"/>
            <a:ext cx="317801" cy="348544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H="1" flipV="1">
            <a:off x="942872" y="2125574"/>
            <a:ext cx="1426560" cy="120062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H="1">
            <a:off x="8939927" y="2323659"/>
            <a:ext cx="818484" cy="222838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9758410" y="579232"/>
            <a:ext cx="778967" cy="1744427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758410" y="2323659"/>
            <a:ext cx="630285" cy="239007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H="1" flipV="1">
            <a:off x="9041794" y="1908969"/>
            <a:ext cx="716616" cy="414690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H="1" flipV="1">
            <a:off x="8727851" y="1220405"/>
            <a:ext cx="1030560" cy="1103254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H="1" flipV="1">
            <a:off x="7231329" y="4486363"/>
            <a:ext cx="294446" cy="1294930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7525775" y="5406466"/>
            <a:ext cx="1793887" cy="374826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H="1" flipV="1">
            <a:off x="7337263" y="4602545"/>
            <a:ext cx="188512" cy="1178748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7525775" y="5598201"/>
            <a:ext cx="1814844" cy="183092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H="1">
            <a:off x="6172514" y="5781293"/>
            <a:ext cx="1353261" cy="277577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7525775" y="4923749"/>
            <a:ext cx="775213" cy="857544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H="1" flipV="1">
            <a:off x="5595821" y="5730140"/>
            <a:ext cx="1929953" cy="51153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7525775" y="4673453"/>
            <a:ext cx="725479" cy="1107840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H="1" flipV="1">
            <a:off x="10388695" y="2562666"/>
            <a:ext cx="1197906" cy="996538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11586600" y="3318375"/>
            <a:ext cx="223545" cy="240830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23537" y="3108060"/>
            <a:ext cx="1783669" cy="896467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23537" y="3108060"/>
            <a:ext cx="1736541" cy="601780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H="1">
            <a:off x="2492569" y="3108060"/>
            <a:ext cx="1130967" cy="332375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H="1" flipV="1">
            <a:off x="2687233" y="2594181"/>
            <a:ext cx="936304" cy="513880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H="1" flipV="1">
            <a:off x="5360077" y="3709841"/>
            <a:ext cx="47128" cy="294687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407205" y="4004528"/>
            <a:ext cx="1824124" cy="481836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H="1">
            <a:off x="4343177" y="4004528"/>
            <a:ext cx="1064029" cy="1661289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07205" y="4004528"/>
            <a:ext cx="188616" cy="1725613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H="1" flipV="1">
            <a:off x="1429896" y="5352962"/>
            <a:ext cx="1694626" cy="218311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124522" y="5571272"/>
            <a:ext cx="566266" cy="506295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124522" y="5571272"/>
            <a:ext cx="1218654" cy="94544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3469" y="2164262"/>
            <a:ext cx="285166" cy="630002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473469" y="2125574"/>
            <a:ext cx="469403" cy="38688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231329" y="4486363"/>
            <a:ext cx="105934" cy="116181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7231329" y="3249113"/>
            <a:ext cx="539782" cy="1237250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H="1">
            <a:off x="6172514" y="4486363"/>
            <a:ext cx="1058815" cy="1572507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231329" y="4486363"/>
            <a:ext cx="1069659" cy="437386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231329" y="4486363"/>
            <a:ext cx="1019924" cy="187090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939927" y="2546497"/>
            <a:ext cx="553441" cy="1821980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939927" y="2546497"/>
            <a:ext cx="1448768" cy="16169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H="1">
            <a:off x="7771111" y="2546497"/>
            <a:ext cx="1168815" cy="702616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V="1">
            <a:off x="8939927" y="1908969"/>
            <a:ext cx="101867" cy="637528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H="1" flipV="1">
            <a:off x="8727851" y="1220405"/>
            <a:ext cx="212076" cy="1326092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185586" y="260909"/>
            <a:ext cx="351792" cy="318323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H="1">
            <a:off x="9041794" y="260909"/>
            <a:ext cx="1143792" cy="1648060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V="1">
            <a:off x="10185586" y="239272"/>
            <a:ext cx="1112721" cy="21637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flipH="1">
            <a:off x="8727851" y="260909"/>
            <a:ext cx="1457735" cy="959497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58635" y="2794265"/>
            <a:ext cx="1733934" cy="646171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V="1">
            <a:off x="758635" y="2594181"/>
            <a:ext cx="1928598" cy="200084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flipV="1">
            <a:off x="758635" y="2125574"/>
            <a:ext cx="184237" cy="668690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flipH="1">
            <a:off x="10388695" y="579232"/>
            <a:ext cx="148683" cy="1983434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flipH="1">
            <a:off x="9041794" y="579232"/>
            <a:ext cx="1495583" cy="1329737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flipV="1">
            <a:off x="10537377" y="239272"/>
            <a:ext cx="760929" cy="339960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flipH="1">
            <a:off x="8727851" y="579232"/>
            <a:ext cx="1809527" cy="641174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flipH="1">
            <a:off x="9319661" y="4368477"/>
            <a:ext cx="173706" cy="1037990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flipH="1">
            <a:off x="9340619" y="4368477"/>
            <a:ext cx="152749" cy="1229725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flipH="1">
            <a:off x="8300988" y="4368477"/>
            <a:ext cx="1192379" cy="555272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H="1">
            <a:off x="8251254" y="4368477"/>
            <a:ext cx="1242114" cy="304976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flipH="1" flipV="1">
            <a:off x="9041794" y="1908969"/>
            <a:ext cx="1346901" cy="653697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0388695" y="2562666"/>
            <a:ext cx="1421451" cy="755709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319661" y="5406466"/>
            <a:ext cx="20957" cy="191735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flipH="1" flipV="1">
            <a:off x="8300988" y="4923749"/>
            <a:ext cx="1018673" cy="482718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flipH="1" flipV="1">
            <a:off x="8251254" y="4673453"/>
            <a:ext cx="1068408" cy="733013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flipV="1">
            <a:off x="7337263" y="3249113"/>
            <a:ext cx="433848" cy="1353432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 flipH="1">
            <a:off x="6172514" y="4602545"/>
            <a:ext cx="1164749" cy="1456325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337263" y="4602545"/>
            <a:ext cx="963725" cy="321204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337263" y="4602545"/>
            <a:ext cx="913991" cy="70908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 flipV="1">
            <a:off x="3690788" y="5665817"/>
            <a:ext cx="652389" cy="411750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flipV="1">
            <a:off x="3690788" y="5730140"/>
            <a:ext cx="1905034" cy="347427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flipH="1" flipV="1">
            <a:off x="8300988" y="4923749"/>
            <a:ext cx="1039631" cy="674452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 flipH="1" flipV="1">
            <a:off x="8251254" y="4673453"/>
            <a:ext cx="1089365" cy="924748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flipV="1">
            <a:off x="7771111" y="1908969"/>
            <a:ext cx="1270683" cy="1340144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771111" y="3249113"/>
            <a:ext cx="529877" cy="1674636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771111" y="3249113"/>
            <a:ext cx="480142" cy="1424340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 flipH="1" flipV="1">
            <a:off x="8727851" y="1220405"/>
            <a:ext cx="313943" cy="688563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 flipV="1">
            <a:off x="2492569" y="2594181"/>
            <a:ext cx="194664" cy="846255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flipH="1" flipV="1">
            <a:off x="942872" y="2125574"/>
            <a:ext cx="1744361" cy="468606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 flipH="1" flipV="1">
            <a:off x="4343177" y="5665817"/>
            <a:ext cx="1829337" cy="393053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 flipH="1" flipV="1">
            <a:off x="5595821" y="5730140"/>
            <a:ext cx="576692" cy="328730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 flipH="1" flipV="1">
            <a:off x="4149973" y="452173"/>
            <a:ext cx="840901" cy="766998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 flipH="1" flipV="1">
            <a:off x="8251254" y="4673453"/>
            <a:ext cx="49735" cy="250296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 flipH="1" flipV="1">
            <a:off x="7029158" y="248385"/>
            <a:ext cx="1698692" cy="972020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343177" y="5665817"/>
            <a:ext cx="1252645" cy="64323"/>
          </a:xfrm>
          <a:prstGeom prst="line">
            <a:avLst/>
          </a:prstGeom>
          <a:noFill/>
          <a:ln w="9525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7858017" y="6156848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573437" y="668038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729617" y="5162838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2323712" y="2199916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9712690" y="2277939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480055" y="5735573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1540880" y="3513484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577817" y="3062340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5361485" y="3958808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078802" y="5525552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384176" y="5307242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27749" y="2118542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314357" y="3664121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7185609" y="4440643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8894207" y="2500777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0139866" y="215189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12915" y="2748545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10491657" y="533512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9447648" y="4322757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0342975" y="2516946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9273941" y="5360746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291543" y="4556825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3645068" y="6031847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9294899" y="5552481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7725391" y="3203393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8996074" y="1863249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2446849" y="3394716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2641513" y="2548461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126794" y="6013150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945153" y="1173451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8255268" y="4878029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1252586" y="193552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8682131" y="1174685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297457" y="5620097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104253" y="406453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550101" y="5684420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6983438" y="202665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897152" y="2079854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1764425" y="3272655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8205534" y="4627733"/>
            <a:ext cx="91440" cy="9144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pic>
        <p:nvPicPr>
          <p:cNvPr id="14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1371600"/>
            <a:ext cx="731520" cy="731520"/>
          </a:xfrm>
          <a:prstGeom prst="rect">
            <a:avLst/>
          </a:prstGeom>
        </p:spPr>
      </p:pic>
      <p:sp>
        <p:nvSpPr>
          <p:cNvPr id="143" name="Text 140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THANK YOU</a:t>
            </a:r>
            <a:endParaRPr lang="en-US" sz="6600" dirty="0"/>
          </a:p>
        </p:txBody>
      </p:sp>
      <p:sp>
        <p:nvSpPr>
          <p:cNvPr id="144" name="Text 141"/>
          <p:cNvSpPr txBox="1"/>
          <p:nvPr/>
        </p:nvSpPr>
        <p:spPr>
          <a:xfrm>
            <a:off x="457200" y="370332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6E8F5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TRAVELSYNC – Intelligent Travel Planning &amp; Information Platform</a:t>
            </a:r>
            <a:endParaRPr lang="en-US" sz="1800" dirty="0"/>
          </a:p>
        </p:txBody>
      </p:sp>
      <p:sp>
        <p:nvSpPr>
          <p:cNvPr id="145" name="Shape 142"/>
          <p:cNvSpPr/>
          <p:nvPr/>
        </p:nvSpPr>
        <p:spPr>
          <a:xfrm>
            <a:off x="4389120" y="4663440"/>
            <a:ext cx="3383280" cy="640080"/>
          </a:xfrm>
          <a:prstGeom prst="roundRect">
            <a:avLst>
              <a:gd name="adj" fmla="val 17143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  <a:effectLst>
            <a:outerShdw blurRad="101600" dist="25400" dir="5400000" algn="bl" rotWithShape="0">
              <a:srgbClr val="0B1F3A">
                <a:alpha val="14000"/>
              </a:srgbClr>
            </a:outerShdw>
          </a:effectLst>
        </p:spPr>
      </p:sp>
      <p:sp>
        <p:nvSpPr>
          <p:cNvPr id="146" name="Text 143"/>
          <p:cNvSpPr txBox="1"/>
          <p:nvPr/>
        </p:nvSpPr>
        <p:spPr>
          <a:xfrm>
            <a:off x="4389120" y="4663440"/>
            <a:ext cx="3383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Questions &amp; Discussion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8374</Words>
  <Application>WPS Presentation</Application>
  <PresentationFormat>On-screen Show (16:9)</PresentationFormat>
  <Paragraphs>698</Paragraphs>
  <Slides>18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8" baseType="lpstr">
      <vt:lpstr>Arial</vt:lpstr>
      <vt:lpstr>SimSun</vt:lpstr>
      <vt:lpstr>Wingdings</vt:lpstr>
      <vt:lpstr>Segoe UI</vt:lpstr>
      <vt:lpstr>Segoe UI</vt:lpstr>
      <vt:lpstr>Segoe UI</vt:lpstr>
      <vt:lpstr>Consolas</vt:lpstr>
      <vt:lpstr>Consolas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TravelSync - DSA Review-1</dc:title>
  <dc:creator>PptxGenJS</dc:creator>
  <dc:subject>PptxGenJS Presentation</dc:subject>
  <cp:lastModifiedBy>Yagati Keerthika</cp:lastModifiedBy>
  <cp:revision>3</cp:revision>
  <dcterms:created xsi:type="dcterms:W3CDTF">2026-10-16T06:14:00Z</dcterms:created>
  <dcterms:modified xsi:type="dcterms:W3CDTF">2026-10-16T07:18:23Z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FC5AB2DEAB3842E9989A65BB5B961DAD_12</vt:lpwstr>
  </property>
  <property fmtid="{D5CDD505-2E9C-101B-9397-08002B2CF9AE}" pid="3" name="KSOProductBuildVer">
    <vt:lpwstr>1033-12.1.0.29162</vt:lpwstr>
  </property>
</Properties>
</file>